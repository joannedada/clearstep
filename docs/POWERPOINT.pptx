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5"/>
  </p:notesMasterIdLst>
  <p:sldIdLst>
    <p:sldId id="270" r:id="rId2"/>
    <p:sldId id="271" r:id="rId3"/>
    <p:sldId id="273" r:id="rId4"/>
    <p:sldId id="258" r:id="rId5"/>
    <p:sldId id="261" r:id="rId6"/>
    <p:sldId id="274" r:id="rId7"/>
    <p:sldId id="263" r:id="rId8"/>
    <p:sldId id="264" r:id="rId9"/>
    <p:sldId id="27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577E78-399D-E022-14FB-02C3FE58B0D6}" name="Leia P" initials="LP" userId="a617a5a214b9414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818A"/>
    <a:srgbClr val="1C1F26"/>
    <a:srgbClr val="8D9196"/>
    <a:srgbClr val="F5F4F0"/>
    <a:srgbClr val="DBD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272CB-A011-0BFB-19C0-7A759F1725EE}" v="153" dt="2026-03-27T04:05:40.956"/>
    <p1510:client id="{1BEF07F2-815F-5A48-B3C7-FA49C2902C62}" v="5" dt="2026-03-26T18:02:05.481"/>
    <p1510:client id="{506A9979-4BAD-7A64-D16D-A7619B2A109F}" v="13" dt="2026-03-27T01:31:24.496"/>
    <p1510:client id="{560281ED-5BCD-4182-99B5-08EB88EDBCEB}" v="93" dt="2026-03-27T05:09:45.405"/>
    <p1510:client id="{62CEFA7F-F57C-BBA0-BA8C-05A2D8AC1A0E}" v="120" dt="2026-03-26T23:34:33.529"/>
    <p1510:client id="{9D5D484E-1423-B974-5229-9F5F3AC6B80C}" v="47" dt="2026-03-27T05:25:22.171"/>
    <p1510:client id="{A2F9CA46-B677-5A0E-2CE2-367AADB59879}" v="1" dt="2026-03-26T22:01:08.594"/>
    <p1510:client id="{A5D573DC-00A4-4E21-A485-C6D42272EDC1}" v="24" dt="2026-03-26T16:48:14.954"/>
    <p1510:client id="{BF3A07CB-CBE7-080F-66F3-A90AA4FF50EC}" v="364" dt="2026-03-26T19:00:07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393" autoAdjust="0"/>
  </p:normalViewPr>
  <p:slideViewPr>
    <p:cSldViewPr snapToGrid="0">
      <p:cViewPr>
        <p:scale>
          <a:sx n="90" d="100"/>
          <a:sy n="90" d="100"/>
        </p:scale>
        <p:origin x="436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1b4507f18_0_1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1b4507f18_0_1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Hi, my name is </a:t>
            </a:r>
            <a:r>
              <a:rPr lang="en-US" err="1"/>
              <a:t>Leishka</a:t>
            </a:r>
            <a:r>
              <a:rPr lang="en-US"/>
              <a:t>, and alongside my new friends; Joanne and Fatima, we’re the team behind </a:t>
            </a:r>
            <a:r>
              <a:rPr lang="en-US" err="1"/>
              <a:t>ClearStep</a:t>
            </a:r>
            <a:r>
              <a:rPr lang="en-US"/>
              <a:t>.</a:t>
            </a:r>
          </a:p>
          <a:p>
            <a:r>
              <a:rPr lang="en-US"/>
              <a:t>We built </a:t>
            </a:r>
            <a:r>
              <a:rPr lang="en-US" err="1"/>
              <a:t>ClearStep</a:t>
            </a:r>
            <a:r>
              <a:rPr lang="en-US"/>
              <a:t> because of the rising need to close a major gap. People don’t fail from lack of </a:t>
            </a:r>
            <a:r>
              <a:rPr lang="en-US" err="1"/>
              <a:t>information,</a:t>
            </a:r>
            <a:r>
              <a:rPr lang="en-US"/>
              <a:t> they fail when they don’t know what to do next.</a:t>
            </a:r>
          </a:p>
          <a:p>
            <a:r>
              <a:rPr lang="en-US"/>
              <a:t>Every single day, people are faced with messages, instructions, or situations that feel urgent, confusing, or overwhelming, and in those moments, making the wrong decision can have real consequences.</a:t>
            </a:r>
          </a:p>
          <a:p>
            <a:r>
              <a:rPr lang="en-US" err="1"/>
              <a:t>ClearStep</a:t>
            </a:r>
            <a:r>
              <a:rPr lang="en-US"/>
              <a:t> was designed to help in exactly that moment.</a:t>
            </a:r>
          </a:p>
          <a:p>
            <a:r>
              <a:rPr lang="en-US"/>
              <a:t>It doesn’t just explain </a:t>
            </a:r>
            <a:r>
              <a:rPr lang="en-US" err="1"/>
              <a:t>information,</a:t>
            </a:r>
            <a:r>
              <a:rPr lang="en-US"/>
              <a:t> it helps you decide what to do next. Clearly and safely.</a:t>
            </a:r>
          </a:p>
          <a:p>
            <a:r>
              <a:rPr lang="en-US"/>
              <a:t>We’ll walk you through how it works, how we built it, and how we made sure it stays reliable and safe in real-world use.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how </a:t>
            </a:r>
            <a:r>
              <a:rPr lang="en-US" err="1"/>
              <a:t>ClearStep</a:t>
            </a:r>
            <a:r>
              <a:rPr lang="en-US"/>
              <a:t> starts.</a:t>
            </a:r>
          </a:p>
          <a:p>
            <a:r>
              <a:rPr lang="en-US"/>
              <a:t>We don’t overwhelm the user with </a:t>
            </a:r>
            <a:r>
              <a:rPr lang="en-US" err="1"/>
              <a:t>options,</a:t>
            </a:r>
            <a:r>
              <a:rPr lang="en-US"/>
              <a:t> we ask them to start with one simple </a:t>
            </a:r>
            <a:r>
              <a:rPr lang="en-US" err="1"/>
              <a:t>choice</a:t>
            </a:r>
            <a:r>
              <a:rPr lang="en-US"/>
              <a:t> and this leads us to the first mode. </a:t>
            </a:r>
            <a:r>
              <a:rPr lang="en-US" i="1"/>
              <a:t>‘Is this safe?’</a:t>
            </a:r>
            <a:br>
              <a:rPr lang="en-US"/>
            </a:br>
            <a:r>
              <a:rPr lang="en-US"/>
              <a:t>This is for the moment when something feels a bit off — a message, a link, an email — and you need to know if you should trust it.</a:t>
            </a:r>
          </a:p>
          <a:p>
            <a:r>
              <a:rPr lang="en-US"/>
              <a:t>The second mode, </a:t>
            </a:r>
            <a:r>
              <a:rPr lang="en-US" i="1"/>
              <a:t>‘Let's Make it simple’</a:t>
            </a:r>
            <a:br>
              <a:rPr lang="en-US"/>
            </a:br>
            <a:r>
              <a:rPr lang="en-US"/>
              <a:t>That’s for when something is already confusing — instructions, documents, or tasks — and you just need it broken down into clear steps.</a:t>
            </a:r>
          </a:p>
          <a:p>
            <a:r>
              <a:rPr lang="en-US"/>
              <a:t>These two modes represent the two moments where people get stuck:</a:t>
            </a:r>
            <a:br>
              <a:rPr lang="en-US"/>
            </a:br>
            <a:r>
              <a:rPr lang="en-US" i="1"/>
              <a:t>Is this safe?</a:t>
            </a:r>
            <a:br>
              <a:rPr lang="en-US"/>
            </a:br>
            <a:r>
              <a:rPr lang="en-US" i="1"/>
              <a:t>What do I do next?</a:t>
            </a:r>
            <a:endParaRPr lang="en-US"/>
          </a:p>
          <a:p>
            <a:r>
              <a:rPr lang="en-US"/>
              <a:t>And </a:t>
            </a:r>
            <a:r>
              <a:rPr lang="en-US" err="1"/>
              <a:t>ClearStep</a:t>
            </a:r>
            <a:r>
              <a:rPr lang="en-US"/>
              <a:t> is built specifically for those moments.</a:t>
            </a:r>
          </a:p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50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b4507f18_0_1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b4507f18_0_1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Expanded Voiceover (same tone, stronger + fuller)</a:t>
            </a:r>
          </a:p>
          <a:p>
            <a:r>
              <a:rPr lang="en-US"/>
              <a:t>“In our world today, 1 in 7 people are neurodivergent.</a:t>
            </a:r>
            <a:br>
              <a:rPr lang="en-US"/>
            </a:br>
            <a:r>
              <a:rPr lang="en-US"/>
              <a:t>People with ADHD, autism, and dyslexia often face cognitive overload when using digital tools.</a:t>
            </a:r>
          </a:p>
          <a:p>
            <a:r>
              <a:rPr lang="en-US"/>
              <a:t>They’re constantly exposed to messages that feel urgent, unclear, and sometimes intentionally misleading.</a:t>
            </a:r>
          </a:p>
          <a:p>
            <a:r>
              <a:rPr lang="en-US"/>
              <a:t>And honestly, this isn’t just about scams — it’s everyday communication.</a:t>
            </a:r>
            <a:br>
              <a:rPr lang="en-US"/>
            </a:br>
            <a:r>
              <a:rPr lang="en-US"/>
              <a:t>Emails, forms, instructions — things that are already hard to process become overwhelming very quickly.</a:t>
            </a:r>
          </a:p>
          <a:p>
            <a:r>
              <a:rPr lang="en-US"/>
              <a:t>While many tools can detect risk, they stop there.</a:t>
            </a:r>
            <a:br>
              <a:rPr lang="en-US"/>
            </a:br>
            <a:r>
              <a:rPr lang="en-US"/>
              <a:t>They label something as suspicious — but they don’t tell the user what to actually do next.</a:t>
            </a:r>
          </a:p>
          <a:p>
            <a:r>
              <a:rPr lang="en-US" err="1"/>
              <a:t>So</a:t>
            </a:r>
            <a:r>
              <a:rPr lang="en-US"/>
              <a:t> the responsibility shifts entirely to the user.</a:t>
            </a:r>
          </a:p>
          <a:p>
            <a:r>
              <a:rPr lang="en-US"/>
              <a:t>They have to interpret the situation, make a decision, and act — often under pressure, often without clarity, and without confidence.</a:t>
            </a:r>
          </a:p>
          <a:p>
            <a:r>
              <a:rPr lang="en-US"/>
              <a:t>That decision burden, especially under stress, is where mistakes happen.</a:t>
            </a:r>
          </a:p>
          <a:p>
            <a:r>
              <a:rPr lang="en-US"/>
              <a:t>It's not because people don’t understand, it's because they’re forced to decide in moments of overload.”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b4507f18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1b4507f18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ClearStep</a:t>
            </a:r>
            <a:r>
              <a:rPr lang="en-US" dirty="0"/>
              <a:t> is built around one core idea — action, not just detection.</a:t>
            </a:r>
          </a:p>
          <a:p>
            <a:r>
              <a:rPr lang="en-US" dirty="0"/>
              <a:t>On the image to the left, we see that the system doesn’t just flag risk, It shows you exactly what was detected and tells you exactly what to do next. A key offering of our "Is this safe" mode.</a:t>
            </a:r>
          </a:p>
          <a:p>
            <a:r>
              <a:rPr lang="en-US" dirty="0"/>
              <a:t>In </a:t>
            </a:r>
            <a:r>
              <a:rPr lang="en-US" i="1" dirty="0"/>
              <a:t>‘Make It Simple,’</a:t>
            </a:r>
            <a:r>
              <a:rPr lang="en-US" dirty="0"/>
              <a:t> it takes complex, overwhelming information and breaks it down into clear, step-by-step actions.</a:t>
            </a:r>
            <a:br>
              <a:rPr lang="en-US" dirty="0"/>
            </a:br>
            <a:r>
              <a:rPr lang="en-US" dirty="0"/>
              <a:t>It separates what you need to do from warnings, so the user can move forward without second guessing.</a:t>
            </a:r>
          </a:p>
          <a:p>
            <a:r>
              <a:rPr lang="en-US" dirty="0"/>
              <a:t>The goal is to remove the burden of interpretation completely.</a:t>
            </a:r>
          </a:p>
          <a:p>
            <a:r>
              <a:rPr lang="en-US" dirty="0"/>
              <a:t>That's because in real situations, people don’t just need to know what’s wrong —</a:t>
            </a:r>
            <a:br>
              <a:rPr lang="en-US" dirty="0"/>
            </a:br>
            <a:r>
              <a:rPr lang="en-US" dirty="0"/>
              <a:t>they need to know what to do next.</a:t>
            </a:r>
          </a:p>
          <a:p>
            <a:r>
              <a:rPr lang="en-US" dirty="0"/>
              <a:t>And that’s the shift </a:t>
            </a:r>
            <a:r>
              <a:rPr lang="en-US" dirty="0" err="1"/>
              <a:t>ClearStep</a:t>
            </a:r>
            <a:r>
              <a:rPr lang="en-US" dirty="0"/>
              <a:t> makes.</a:t>
            </a:r>
          </a:p>
          <a:p>
            <a:r>
              <a:rPr lang="en-US" dirty="0"/>
              <a:t>Not just detection, decision, and action.”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295b530c8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295b530c8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“Every request in </a:t>
            </a:r>
            <a:r>
              <a:rPr lang="en-US" err="1"/>
              <a:t>ClearStep</a:t>
            </a:r>
            <a:r>
              <a:rPr lang="en-US"/>
              <a:t> goes through a controlled pipeline.</a:t>
            </a:r>
          </a:p>
          <a:p>
            <a:r>
              <a:rPr lang="en-US"/>
              <a:t>Before anything touches a model, we run a safety screen.</a:t>
            </a:r>
            <a:br>
              <a:rPr lang="en-US"/>
            </a:br>
            <a:r>
              <a:rPr lang="en-US"/>
              <a:t>Azure Content Safety checks for crisis-level harm, and Prompt Shield blocks prompt injection or jailbreak attempts.</a:t>
            </a:r>
            <a:br>
              <a:rPr lang="en-US"/>
            </a:br>
            <a:r>
              <a:rPr lang="en-US"/>
              <a:t>If something is unsafe, we stop it right there, the model is never even called.</a:t>
            </a:r>
          </a:p>
          <a:p>
            <a:r>
              <a:rPr lang="en-US"/>
              <a:t>Next thing we do is to build context.</a:t>
            </a:r>
            <a:br>
              <a:rPr lang="en-US"/>
            </a:br>
            <a:r>
              <a:rPr lang="en-US"/>
              <a:t>We detect the user’s language automatically, and in Safe mode we extract specific risk signals — things like urgency, impersonation, or financial pressure.</a:t>
            </a:r>
            <a:br>
              <a:rPr lang="en-US"/>
            </a:br>
            <a:r>
              <a:rPr lang="en-US"/>
              <a:t>That gives the system real evidence before it makes a decision.</a:t>
            </a:r>
          </a:p>
          <a:p>
            <a:r>
              <a:rPr lang="en-US"/>
              <a:t>Afterwards, the reasoning layer runs.</a:t>
            </a:r>
            <a:br>
              <a:rPr lang="en-US"/>
            </a:br>
            <a:r>
              <a:rPr lang="en-US"/>
              <a:t>The model generates a structured response that's focused on risk and next steps.</a:t>
            </a:r>
          </a:p>
          <a:p>
            <a:r>
              <a:rPr lang="en-US"/>
              <a:t>But we don’t trust model output on its own.</a:t>
            </a:r>
            <a:br>
              <a:rPr lang="en-US"/>
            </a:br>
            <a:r>
              <a:rPr lang="en-US"/>
              <a:t>Everything goes through a validation layer in Python, where rules are enforced — structure, safety, and consistency are all checked before anything reaches the user.</a:t>
            </a:r>
          </a:p>
          <a:p>
            <a:r>
              <a:rPr lang="en-US"/>
              <a:t>And finally, we log system behavior through telemetry and storage so we can monitor how it performs in real use.</a:t>
            </a:r>
          </a:p>
          <a:p>
            <a:r>
              <a:rPr lang="en-US" err="1"/>
              <a:t>So</a:t>
            </a:r>
            <a:r>
              <a:rPr lang="en-US"/>
              <a:t> this isn’t just an AI pipeline —</a:t>
            </a:r>
            <a:br>
              <a:rPr lang="en-US"/>
            </a:br>
            <a:r>
              <a:rPr lang="en-US"/>
              <a:t>it’s a controlled system where safety is enforced before and after the model.”</a:t>
            </a:r>
            <a:br>
              <a:rPr lang="en-US"/>
            </a:br>
            <a:r>
              <a:rPr lang="en-US"/>
              <a:t>My </a:t>
            </a:r>
            <a:r>
              <a:rPr lang="en-US" err="1"/>
              <a:t>team mate</a:t>
            </a:r>
            <a:r>
              <a:rPr lang="en-US"/>
              <a:t> Joan will now take us to the Azure services.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5DF4CE-8A31-9FC9-E63D-0987F50B6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1b4507f18_0_405:notes">
            <a:extLst>
              <a:ext uri="{FF2B5EF4-FFF2-40B4-BE49-F238E27FC236}">
                <a16:creationId xmlns:a16="http://schemas.microsoft.com/office/drawing/2014/main" id="{BD52F531-646F-F830-584E-C3DB45BA4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1b4507f18_0_405:notes">
            <a:extLst>
              <a:ext uri="{FF2B5EF4-FFF2-40B4-BE49-F238E27FC236}">
                <a16:creationId xmlns:a16="http://schemas.microsoft.com/office/drawing/2014/main" id="{1DF80770-95E9-344E-13BB-2003856F3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err="1"/>
              <a:t>ClearStep</a:t>
            </a:r>
            <a:r>
              <a:rPr lang="en-US"/>
              <a:t> is built entirely on Azure — and each service has a specific role in the system.</a:t>
            </a:r>
          </a:p>
          <a:p>
            <a:r>
              <a:rPr lang="en-US"/>
              <a:t>We’re not just calling APIs — we’re assigning responsibility across the pipeline.</a:t>
            </a:r>
          </a:p>
          <a:p>
            <a:r>
              <a:rPr lang="en-US"/>
              <a:t>Azure AI Content Safety and Prompt Shields handle safety before anything reaches the model.</a:t>
            </a:r>
            <a:br>
              <a:rPr lang="en-US"/>
            </a:br>
            <a:r>
              <a:rPr lang="en-US"/>
              <a:t>Azure OpenAI, through Microsoft Foundry, is used for fast signal detection, separating classification from reasoning.</a:t>
            </a:r>
            <a:br>
              <a:rPr lang="en-US"/>
            </a:br>
            <a:r>
              <a:rPr lang="en-US"/>
              <a:t>Azure AI Language enables automatic multilingual support without adding complexity for the user.</a:t>
            </a:r>
          </a:p>
          <a:p>
            <a:r>
              <a:rPr lang="en-US"/>
              <a:t>On the infrastructure side, App Service handles deployment and scaling, and Key Vault ensures no secrets are ever exposed in code.</a:t>
            </a:r>
          </a:p>
          <a:p>
            <a:r>
              <a:rPr lang="en-US"/>
              <a:t>Blob Storage is used for audit logging — but without storing any raw user content — and Cosmos DB stores accessibility preferences so the experience adapts to each user.</a:t>
            </a:r>
          </a:p>
          <a:p>
            <a:r>
              <a:rPr lang="en-US"/>
              <a:t>Application Insights gives us visibility into how the system behaves in real time, with custom telemetry across the full request lifecycle.</a:t>
            </a:r>
          </a:p>
          <a:p>
            <a:r>
              <a:rPr lang="en-US" err="1"/>
              <a:t>So</a:t>
            </a:r>
            <a:r>
              <a:rPr lang="en-US"/>
              <a:t> every Azure service here is doing a job —</a:t>
            </a:r>
            <a:br>
              <a:rPr lang="en-US"/>
            </a:br>
            <a:r>
              <a:rPr lang="en-US"/>
              <a:t>safety, intelligence, storage, or observability — all working together to make the system reliable.”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889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295b530c8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295b530c8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“One thing we definitely did not do was to treat Responsible AI as a guideline. </a:t>
            </a:r>
            <a:r>
              <a:rPr lang="en-US" err="1"/>
              <a:t>Instead</a:t>
            </a:r>
            <a:r>
              <a:rPr lang="en-US"/>
              <a:t> we built it into the system itself.</a:t>
            </a:r>
          </a:p>
          <a:p>
            <a:r>
              <a:rPr lang="en-US"/>
              <a:t>For fairness and inclusiveness, </a:t>
            </a:r>
            <a:r>
              <a:rPr lang="en-US" err="1"/>
              <a:t>ClearStep</a:t>
            </a:r>
            <a:r>
              <a:rPr lang="en-US"/>
              <a:t> adapts to the user.</a:t>
            </a:r>
            <a:br>
              <a:rPr lang="en-US"/>
            </a:br>
            <a:r>
              <a:rPr lang="en-US"/>
              <a:t>We support multiple accessibility profiles for different cognitive needs, adjust reading levels, and automatically detect language — so the system meets the user where they are.</a:t>
            </a:r>
          </a:p>
          <a:p>
            <a:r>
              <a:rPr lang="en-US"/>
              <a:t>For reliability and safety, we don’t rely on model behavior.</a:t>
            </a:r>
            <a:br>
              <a:rPr lang="en-US"/>
            </a:br>
            <a:r>
              <a:rPr lang="en-US"/>
              <a:t>Crisis responses, medical safeguards, and output structure are enforced in Python.</a:t>
            </a:r>
            <a:br>
              <a:rPr lang="en-US"/>
            </a:br>
            <a:r>
              <a:rPr lang="en-US"/>
              <a:t>We validate every response, sanitize output, and apply rate limiting to prevent abuse.</a:t>
            </a:r>
          </a:p>
          <a:p>
            <a:r>
              <a:rPr lang="en-US"/>
              <a:t>On privacy, we made a clear decision — we don’t store user messages.</a:t>
            </a:r>
            <a:br>
              <a:rPr lang="en-US"/>
            </a:br>
            <a:r>
              <a:rPr lang="en-US"/>
              <a:t>There are no accounts, no tracking, and no personally identifiable data.</a:t>
            </a:r>
            <a:br>
              <a:rPr lang="en-US"/>
            </a:br>
            <a:r>
              <a:rPr lang="en-US"/>
              <a:t>Everything runs on anonymous sessions.</a:t>
            </a:r>
          </a:p>
          <a:p>
            <a:r>
              <a:rPr lang="en-US"/>
              <a:t>For transparency, every result includes a clear explanation of why it was flagged, along with consistent system behavior — even when services are unavailable.</a:t>
            </a:r>
          </a:p>
          <a:p>
            <a:r>
              <a:rPr lang="en-US"/>
              <a:t>Accountability is handled through logging and telemetry.</a:t>
            </a:r>
            <a:br>
              <a:rPr lang="en-US"/>
            </a:br>
            <a:r>
              <a:rPr lang="en-US"/>
              <a:t>We track how the system behaves without storing sensitive content.</a:t>
            </a:r>
          </a:p>
          <a:p>
            <a:r>
              <a:rPr lang="en-US"/>
              <a:t>And finally, human oversight is built in.</a:t>
            </a:r>
            <a:br>
              <a:rPr lang="en-US"/>
            </a:br>
            <a:r>
              <a:rPr lang="en-US"/>
              <a:t>We defer medical and legal decisions to real professionals, include crisis routing like 988, and keep the user in control — the system never acts on their behalf.</a:t>
            </a:r>
          </a:p>
          <a:p>
            <a:r>
              <a:rPr lang="en-US"/>
              <a:t>So Responsible AI isn’t something we added at the end —</a:t>
            </a:r>
            <a:br>
              <a:rPr lang="en-US"/>
            </a:br>
            <a:r>
              <a:rPr lang="en-US"/>
              <a:t>it’s enforced at every layer of the system.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295b530c8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295b530c8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“I think this is my favorite feature of </a:t>
            </a:r>
            <a:r>
              <a:rPr lang="en-US" dirty="0" err="1"/>
              <a:t>ClearStep</a:t>
            </a:r>
            <a:r>
              <a:rPr lang="en-US" dirty="0"/>
              <a:t>. For us, accessibility isn’t a feature — it’s literally the product.</a:t>
            </a:r>
          </a:p>
          <a:p>
            <a:r>
              <a:rPr lang="en-US" dirty="0"/>
              <a:t>We designed </a:t>
            </a:r>
            <a:r>
              <a:rPr lang="en-US" dirty="0" err="1"/>
              <a:t>ClearStep</a:t>
            </a:r>
            <a:r>
              <a:rPr lang="en-US" dirty="0"/>
              <a:t> around the idea that people process information differently, especially under stress.</a:t>
            </a:r>
          </a:p>
          <a:p>
            <a:r>
              <a:rPr lang="en-US" dirty="0"/>
              <a:t>Instead of a single interface, we built five cognitive accessibility profiles — each one tailored to a specific need.</a:t>
            </a:r>
          </a:p>
          <a:p>
            <a:r>
              <a:rPr lang="en-US" dirty="0"/>
              <a:t>Calm Default reduces glare and keeps things neutral.</a:t>
            </a:r>
            <a:br>
              <a:rPr lang="en-US" dirty="0"/>
            </a:br>
            <a:r>
              <a:rPr lang="en-US" dirty="0"/>
              <a:t>Low Sensory removes visual noise for users with sensory sensitivity.</a:t>
            </a:r>
            <a:br>
              <a:rPr lang="en-US" dirty="0"/>
            </a:br>
            <a:r>
              <a:rPr lang="en-US" dirty="0"/>
              <a:t>Dyslexia mode uses a cream background to reduce visual crowding.</a:t>
            </a:r>
            <a:br>
              <a:rPr lang="en-US" dirty="0"/>
            </a:br>
            <a:r>
              <a:rPr lang="en-US" dirty="0"/>
              <a:t>High Focus strips everything down to support attention.</a:t>
            </a:r>
            <a:br>
              <a:rPr lang="en-US" dirty="0"/>
            </a:br>
            <a:r>
              <a:rPr lang="en-US" dirty="0"/>
              <a:t>And Dark Mode reduces light exposure for users with photosensitivity.</a:t>
            </a:r>
          </a:p>
          <a:p>
            <a:r>
              <a:rPr lang="en-US" dirty="0"/>
              <a:t>These are designed environments that change how information is experienced.</a:t>
            </a:r>
          </a:p>
          <a:p>
            <a:r>
              <a:rPr lang="en-US" dirty="0"/>
              <a:t>On top of that, we added adaptive reading levels so users can adjust how dense or simplified the output is, and those preferences are saved — so the system remembers and adapts every time they come back.</a:t>
            </a:r>
          </a:p>
          <a:p>
            <a:r>
              <a:rPr lang="en-US" dirty="0"/>
              <a:t>Because reducing cognitive overload isn’t just about simplifying content —</a:t>
            </a:r>
            <a:br>
              <a:rPr lang="en-US" dirty="0"/>
            </a:br>
            <a:r>
              <a:rPr lang="en-US" dirty="0"/>
              <a:t>it’s about presenting it in a way the user can actually process.”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“For us, accessibility isn’t a feature — it’s the product.</a:t>
            </a:r>
          </a:p>
          <a:p>
            <a:r>
              <a:rPr lang="en-US"/>
              <a:t>We designed </a:t>
            </a:r>
            <a:r>
              <a:rPr lang="en-US" err="1"/>
              <a:t>ClearStep</a:t>
            </a:r>
            <a:r>
              <a:rPr lang="en-US"/>
              <a:t> around the idea that people process information differently, especially under stress.</a:t>
            </a:r>
          </a:p>
          <a:p>
            <a:r>
              <a:rPr lang="en-US"/>
              <a:t>Instead of a single interface, we built five cognitive accessibility profiles — each one tailored to a specific need.</a:t>
            </a:r>
          </a:p>
          <a:p>
            <a:r>
              <a:rPr lang="en-US"/>
              <a:t>Calm Default reduces glare and keeps things neutral.</a:t>
            </a:r>
            <a:br>
              <a:rPr lang="en-US"/>
            </a:br>
            <a:r>
              <a:rPr lang="en-US"/>
              <a:t>Low Sensory removes visual noise for users with sensory sensitivity.</a:t>
            </a:r>
            <a:br>
              <a:rPr lang="en-US"/>
            </a:br>
            <a:r>
              <a:rPr lang="en-US"/>
              <a:t>Dyslexia mode uses a cream background to reduce visual crowding.</a:t>
            </a:r>
            <a:br>
              <a:rPr lang="en-US"/>
            </a:br>
            <a:r>
              <a:rPr lang="en-US"/>
              <a:t>High Focus strips everything down to support attention.</a:t>
            </a:r>
            <a:br>
              <a:rPr lang="en-US"/>
            </a:br>
            <a:r>
              <a:rPr lang="en-US"/>
              <a:t>And Dark Mode reduces light exposure for users with photosensitivity.</a:t>
            </a:r>
          </a:p>
          <a:p>
            <a:r>
              <a:rPr lang="en-US"/>
              <a:t>These aren’t just themes — they’re designed environments that change how information is experienced.</a:t>
            </a:r>
          </a:p>
          <a:p>
            <a:r>
              <a:rPr lang="en-US"/>
              <a:t>On top of that, we added adaptive reading levels.</a:t>
            </a:r>
            <a:br>
              <a:rPr lang="en-US"/>
            </a:br>
            <a:r>
              <a:rPr lang="en-US"/>
              <a:t>Users can adjust how dense or simplified the output is, and those preferences are saved — so the system remembers and adapts every time they come back.</a:t>
            </a:r>
          </a:p>
          <a:p>
            <a:r>
              <a:rPr lang="en-US"/>
              <a:t>Because reducing cognitive overload isn’t just about simplifying content —</a:t>
            </a:r>
            <a:br>
              <a:rPr lang="en-US"/>
            </a:br>
            <a:r>
              <a:rPr lang="en-US"/>
              <a:t>it’s about presenting it in a way the user can actually process.”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31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295b530c8_0_1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295b530c8_0_1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“This is our approach. We started with the person first and not the problem.</a:t>
            </a:r>
            <a:br>
              <a:rPr lang="en-US" dirty="0"/>
            </a:br>
            <a:r>
              <a:rPr lang="en-US" dirty="0"/>
              <a:t>We asked what it actually feels like to receive a confusing or urgent message, especially for someone who processes information differently.</a:t>
            </a:r>
          </a:p>
          <a:p>
            <a:r>
              <a:rPr lang="en-US"/>
              <a:t>Second, we focused on experience, not diagnosis.</a:t>
            </a:r>
            <a:br>
              <a:rPr lang="en-US" dirty="0"/>
            </a:br>
            <a:r>
              <a:rPr lang="en-US"/>
              <a:t>The system adapts to how someone processes information — not labels them.</a:t>
            </a:r>
          </a:p>
          <a:p>
            <a:r>
              <a:rPr lang="en-US" dirty="0"/>
              <a:t>Third, we made calm language a requirement, not a preference.</a:t>
            </a:r>
            <a:br>
              <a:rPr lang="en-US" dirty="0"/>
            </a:br>
            <a:r>
              <a:rPr lang="en-US"/>
              <a:t>The tone is treated like an API contract — because how something is said directly affects how </a:t>
            </a:r>
            <a:r>
              <a:rPr lang="en-US" dirty="0"/>
              <a:t>it’s understood.</a:t>
            </a:r>
          </a:p>
          <a:p>
            <a:r>
              <a:rPr lang="en-US" dirty="0"/>
              <a:t>Fourth, we built in explainability.</a:t>
            </a:r>
            <a:br>
              <a:rPr lang="en-US" dirty="0"/>
            </a:br>
            <a:r>
              <a:rPr lang="en-US" dirty="0"/>
              <a:t>Every result shows the “why,” so users don’t just get an answer — they understand it and can trust it.</a:t>
            </a:r>
          </a:p>
          <a:p>
            <a:r>
              <a:rPr lang="en-US" dirty="0"/>
              <a:t>And finally, we designed for failure and safety.</a:t>
            </a:r>
            <a:br>
              <a:rPr lang="en-US" dirty="0"/>
            </a:br>
            <a:r>
              <a:rPr lang="en-US" dirty="0"/>
              <a:t>If something goes wrong, the system doesn’t break — it guides the user clearly and keeps them informed.</a:t>
            </a:r>
          </a:p>
          <a:p>
            <a:r>
              <a:rPr lang="en-US"/>
              <a:t>These decisions shaped everything, from how the interface looks like, to how the system behaves under pressure.”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1b4507f1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1b4507f1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These are the key things we learned building </a:t>
            </a:r>
            <a:r>
              <a:rPr lang="en-US" dirty="0" err="1"/>
              <a:t>ClearStep</a:t>
            </a:r>
            <a:r>
              <a:rPr lang="en-US" dirty="0"/>
              <a:t>.</a:t>
            </a:r>
          </a:p>
          <a:p>
            <a:r>
              <a:rPr lang="en-US" dirty="0"/>
              <a:t>First — labeling risk without action isn’t enough.</a:t>
            </a:r>
            <a:br>
              <a:rPr lang="en-US" dirty="0"/>
            </a:br>
            <a:r>
              <a:rPr lang="en-US" dirty="0"/>
              <a:t>If you tell someone something is high risk but don’t tell them what to do next, you’re increasing anxiety, not reducing it.</a:t>
            </a:r>
            <a:br>
              <a:rPr lang="en-US" dirty="0"/>
            </a:br>
            <a:r>
              <a:rPr lang="en-US" dirty="0"/>
              <a:t>That’s why we focused on action-first responses.</a:t>
            </a:r>
          </a:p>
          <a:p>
            <a:r>
              <a:rPr lang="en-US" dirty="0"/>
              <a:t>Second — accessibility-first design isn’t niche, it’s universal.</a:t>
            </a:r>
            <a:br>
              <a:rPr lang="en-US" dirty="0"/>
            </a:br>
            <a:r>
              <a:rPr lang="en-US" dirty="0"/>
              <a:t>When you design for cognitive overload, you end up creating something that works better for everyone.</a:t>
            </a:r>
          </a:p>
          <a:p>
            <a:r>
              <a:rPr lang="en-US" dirty="0"/>
              <a:t>Third — the system has to be fail-safe.</a:t>
            </a:r>
            <a:br>
              <a:rPr lang="en-US" dirty="0"/>
            </a:br>
            <a:r>
              <a:rPr lang="en-US" dirty="0"/>
              <a:t>We designed it so it continues to function even when parts of the pipeline fail, without exposing data or breaking the user experience.</a:t>
            </a:r>
          </a:p>
          <a:p>
            <a:r>
              <a:rPr lang="en-US" dirty="0"/>
              <a:t>And finally, responsible AI was also very important to us.</a:t>
            </a:r>
            <a:br>
              <a:rPr lang="en-US" dirty="0"/>
            </a:br>
            <a:r>
              <a:rPr lang="en-US" dirty="0"/>
              <a:t>It has to be built into the system itself.</a:t>
            </a:r>
            <a:br>
              <a:rPr lang="en-US" dirty="0"/>
            </a:br>
            <a:r>
              <a:rPr lang="en-US" dirty="0"/>
              <a:t>Fairness, safety, privacy, and transparency are enforced in how the system behaves, not just how it’s described.</a:t>
            </a:r>
          </a:p>
          <a:p>
            <a:r>
              <a:rPr lang="en-US" dirty="0"/>
              <a:t>These weren’t just design choices —</a:t>
            </a:r>
            <a:br>
              <a:rPr lang="en-US" dirty="0"/>
            </a:br>
            <a:r>
              <a:rPr lang="en-US" dirty="0"/>
              <a:t>they shaped how the system works end-to-end.”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1b4507f18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1b4507f18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err="1"/>
              <a:t>ClearStep</a:t>
            </a:r>
            <a:r>
              <a:rPr lang="en-US"/>
              <a:t> was built as a focused MVP for this hackathon.</a:t>
            </a:r>
            <a:br>
              <a:rPr lang="en-US"/>
            </a:br>
            <a:r>
              <a:rPr lang="en-US"/>
              <a:t> The core system — the pipeline, the safety layer, and the user experience — is already fully working and deployed.</a:t>
            </a:r>
          </a:p>
          <a:p>
            <a:pPr>
              <a:buNone/>
            </a:pPr>
            <a:r>
              <a:rPr lang="en-US"/>
              <a:t>We were intentional about scope, and we’re clear on what comes next.</a:t>
            </a:r>
          </a:p>
          <a:p>
            <a:pPr>
              <a:buNone/>
            </a:pPr>
            <a:r>
              <a:rPr lang="en-US"/>
              <a:t>First, we’re adding Azure Computer Vision.</a:t>
            </a:r>
            <a:br>
              <a:rPr lang="en-US"/>
            </a:br>
            <a:r>
              <a:rPr lang="en-US"/>
              <a:t> That allows users to upload photos of documents — not just text — and still get the same guidance. The infrastructure is already </a:t>
            </a:r>
            <a:r>
              <a:rPr lang="en-US" err="1"/>
              <a:t>there,</a:t>
            </a:r>
            <a:r>
              <a:rPr lang="en-US"/>
              <a:t> we’re just finalizing the last piece of validation.</a:t>
            </a:r>
          </a:p>
          <a:p>
            <a:pPr>
              <a:buNone/>
            </a:pPr>
            <a:r>
              <a:rPr lang="en-US"/>
              <a:t>Next is session history.</a:t>
            </a:r>
            <a:br>
              <a:rPr lang="en-US"/>
            </a:br>
            <a:r>
              <a:rPr lang="en-US"/>
              <a:t> No accounts, no tracking — but users can still come back and see what they analyzed before.</a:t>
            </a:r>
          </a:p>
          <a:p>
            <a:pPr>
              <a:buNone/>
            </a:pPr>
            <a:r>
              <a:rPr lang="en-US"/>
              <a:t>And then, a browser extension.</a:t>
            </a:r>
            <a:br>
              <a:rPr lang="en-US"/>
            </a:br>
            <a:r>
              <a:rPr lang="en-US"/>
              <a:t> So “Is This Safe?” works directly inside email — no copying, no switching tabs.</a:t>
            </a:r>
          </a:p>
          <a:p>
            <a:pPr>
              <a:buNone/>
            </a:pPr>
            <a:r>
              <a:rPr lang="en-US"/>
              <a:t>The key point is — these aren’t new systems.</a:t>
            </a:r>
            <a:br>
              <a:rPr lang="en-US"/>
            </a:br>
            <a:r>
              <a:rPr lang="en-US"/>
              <a:t> They’re direct extensions of what’s already built and running.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1b4507f18_0_3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d1b4507f18_0_3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err="1"/>
              <a:t>ClearStep</a:t>
            </a:r>
            <a:r>
              <a:rPr lang="en-US"/>
              <a:t> is live. You can try it right now — the link is on screen. Everything we walked through — the pipeline, the safety layer, the accessibility system — it's all deployed and working.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50E5-271D-A819-4BBE-B21E805F2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A97B9-C844-8326-A2CF-F4B9EDD8B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3201D-557D-409F-2A83-D6D65039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D37AF-3620-587C-B3B6-CEA99C03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FE9F5-75C4-9D48-C474-AC982B28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083130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B721-1186-BADE-1BFA-EDDFB6FE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1B5A-B177-ACCD-5431-E03B5DCAE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8D359-2EE6-8270-F8FC-1323DAA1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9A23A-8DB7-7EAA-6AF5-6E34E3CF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84205-91B0-4C5D-95B1-3FBE9DBC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20176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1580-0C4B-265B-F755-2EF55ED5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83F69-70E5-2546-46A1-36CA39BB5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0D728-0E2B-0FE9-EB7A-D0185802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74B65-3CEA-5BF2-B2FC-DF6B323DA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D5A07-26D5-6214-0ADD-936BE7FC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539448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880F-827B-2561-76F6-B1558E49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B276D-58FC-CD03-CDCF-502835462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77EAB-E32D-483E-FA98-41ADF5934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F4B1E-5ACB-E47D-298F-44E54571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A5AA0-2397-BA05-F615-C865E413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006CC-C81F-D56F-D9CD-3950BF93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57734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E7E8-3F4F-5EF5-FCE2-FD683CD4F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DA98C-8A45-6470-E49E-6D0935E77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B5F90-5AB1-75C6-D106-0287BD59E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D9460-B456-26A9-2ABF-9A3D5816B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8DFB1-C738-3192-ED73-803F1A39F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0CF045-FFCF-EE75-88CE-3EFFA86E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A3806-8F7E-057B-E8D5-393AF17C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F5D5B-4593-1CB0-05CF-38D8FC5B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252891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8D25-FF15-A990-8728-DEB02B02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6A268-8C11-3157-05D7-0F4061DA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CC77C-71CC-1E5E-7673-53144EE9F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8D415-AF63-C1AF-2E08-282F8F4D2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862716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C0BDE-366D-5C9A-714F-E814FA9B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146CE1-AEA2-DC5B-D631-D7AEB49B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AE05B-33D8-EA1C-658A-F6F26138D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2868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8B64-5CA5-CFF7-6FAD-05FACF266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36AA6-8729-FFE0-0E21-DA3997138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04C98-9226-5425-CFCA-A486B2023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3F8C9-3CB9-789E-5BFE-EF55DD90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6488E-0C2B-BB76-5B81-B8DCB697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EE8B1-E02F-D5B6-DA1D-F2D2716A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822351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E8C6-4497-2C39-AAC6-21FCBDC8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13206-5A81-A658-5850-25703FF76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C70CE-2421-D61D-F1BE-21BCCEDDF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F42E0-BB9C-B7C1-0A9E-3E7A9B50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0F907-737B-54B4-A6DB-F94F9B8E1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6A14F-6644-FE7F-A334-F52DC5B9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450743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76CF-22EF-2539-8BF7-C798B6D8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1191E-0B00-92C4-9410-49A1EF88F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AC751-0777-2BB4-0FFA-0BE1CD8E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845E6-A634-9DE0-FD16-A4788837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4321E-9185-488B-E03C-5B7C7E54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308244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53FECD-F957-8D0D-A4F8-A2363359F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99232-D26B-C07D-2A25-59633968C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2117D-0BCD-0093-AB77-0CC5FF78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09A5A-ED9D-83FE-C22D-AB8FD15F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13B05-BCD2-C05E-AFA4-89EAD696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144556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2743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C1011-A24F-8C8F-764D-D2797A25B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A49D9-39C4-B804-15AF-D1EB0D5F8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2BF1C-6DA0-F000-EE9C-89C2ABF4A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0FF61-F327-4C78-98A6-A5F9C45DEF6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B170F-17F0-DCEB-3259-BB72F0872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B9FA6-1BFF-5A9C-7CBD-3281F804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8212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2.sv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19" Type="http://schemas.openxmlformats.org/officeDocument/2006/relationships/image" Target="../media/image25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clearstep-gqb6gpa9hzbdf5gy.canadaeast-01.azurewebsites.ne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github.com/joannedada/clearste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79275" y="0"/>
            <a:ext cx="9533400" cy="4907400"/>
          </a:xfrm>
          <a:prstGeom prst="rect">
            <a:avLst/>
          </a:prstGeom>
          <a:solidFill>
            <a:srgbClr val="F1F6F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92067" y="1510350"/>
            <a:ext cx="3764100" cy="1061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Montserrat"/>
              </a:rPr>
              <a:t>Clear</a:t>
            </a:r>
            <a:r>
              <a:rPr lang="en" b="1" dirty="0">
                <a:solidFill>
                  <a:srgbClr val="2F6E9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Montserrat"/>
              </a:rPr>
              <a:t>Step </a:t>
            </a:r>
            <a:endParaRPr b="1" dirty="0">
              <a:solidFill>
                <a:srgbClr val="2F6E9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Montserrat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470033" y="2490000"/>
            <a:ext cx="65778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7C8C95"/>
                </a:solidFill>
                <a:latin typeface="Open Sans"/>
                <a:ea typeface="Open Sans"/>
                <a:cs typeface="Open Sans"/>
                <a:sym typeface="Open Sans"/>
              </a:rPr>
              <a:t>AI that turns confusing information into calm, actionable steps</a:t>
            </a:r>
            <a:endParaRPr lang="en-US" sz="1600" dirty="0">
              <a:solidFill>
                <a:srgbClr val="7C8C9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9025" y="889825"/>
            <a:ext cx="3637200" cy="299100"/>
          </a:xfrm>
          <a:prstGeom prst="rect">
            <a:avLst/>
          </a:prstGeom>
          <a:solidFill>
            <a:srgbClr val="2F6E9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AI INNOVATION CHALLENGE MARCH 2026</a:t>
            </a:r>
            <a:endParaRPr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102066" y="3392649"/>
            <a:ext cx="27300" cy="27300"/>
          </a:xfrm>
          <a:prstGeom prst="flowChartConnector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178682" y="3392650"/>
            <a:ext cx="27300" cy="27300"/>
          </a:xfrm>
          <a:prstGeom prst="flowChartConnector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85875" y="3117625"/>
            <a:ext cx="5258400" cy="43500"/>
          </a:xfrm>
          <a:prstGeom prst="rect">
            <a:avLst/>
          </a:prstGeom>
          <a:solidFill>
            <a:srgbClr val="2F6E91"/>
          </a:solidFill>
          <a:ln w="9525" cap="flat" cmpd="sng">
            <a:solidFill>
              <a:srgbClr val="2F6E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7446392" y="-1055727"/>
            <a:ext cx="2967900" cy="2971800"/>
          </a:xfrm>
          <a:prstGeom prst="ellipse">
            <a:avLst/>
          </a:prstGeom>
          <a:solidFill>
            <a:srgbClr val="8EC1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8036792" y="-952650"/>
            <a:ext cx="2377500" cy="2377500"/>
          </a:xfrm>
          <a:prstGeom prst="ellipse">
            <a:avLst/>
          </a:prstGeom>
          <a:solidFill>
            <a:srgbClr val="2F6E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485875" y="3659300"/>
            <a:ext cx="5637600" cy="10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C8C95"/>
                </a:solidFill>
                <a:latin typeface="Open Sans"/>
                <a:ea typeface="Open Sans"/>
                <a:cs typeface="Open Sans"/>
                <a:sym typeface="Open Sans"/>
              </a:rPr>
              <a:t>Leishka Pagán </a:t>
            </a:r>
            <a:endParaRPr>
              <a:solidFill>
                <a:srgbClr val="7C8C9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C8C95"/>
                </a:solidFill>
                <a:latin typeface="Open Sans"/>
                <a:ea typeface="Open Sans"/>
                <a:cs typeface="Open Sans"/>
                <a:sym typeface="Open Sans"/>
              </a:rPr>
              <a:t>Joanne Obodoagwu </a:t>
            </a:r>
            <a:endParaRPr>
              <a:solidFill>
                <a:srgbClr val="7C8C9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">
                <a:solidFill>
                  <a:srgbClr val="7C8C95"/>
                </a:solidFill>
                <a:latin typeface="Open Sans"/>
                <a:ea typeface="Open Sans"/>
                <a:cs typeface="Open Sans"/>
                <a:sym typeface="Open Sans"/>
              </a:rPr>
              <a:t>Fatima Ahmed </a:t>
            </a:r>
            <a:endParaRPr>
              <a:solidFill>
                <a:srgbClr val="7C8C9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54;p13">
            <a:extLst>
              <a:ext uri="{FF2B5EF4-FFF2-40B4-BE49-F238E27FC236}">
                <a16:creationId xmlns:a16="http://schemas.microsoft.com/office/drawing/2014/main" id="{199DF288-1624-F832-6487-1D4422FE40C2}"/>
              </a:ext>
            </a:extLst>
          </p:cNvPr>
          <p:cNvSpPr/>
          <p:nvPr/>
        </p:nvSpPr>
        <p:spPr>
          <a:xfrm>
            <a:off x="1162227" y="482600"/>
            <a:ext cx="6853728" cy="4357258"/>
          </a:xfrm>
          <a:prstGeom prst="rect">
            <a:avLst/>
          </a:prstGeom>
          <a:solidFill>
            <a:srgbClr val="F1F6F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6F9E3E-D414-BC7A-54E0-4BF3B8228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81784" y="551872"/>
            <a:ext cx="6403523" cy="41782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438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b="1">
                <a:latin typeface="Open Sans"/>
                <a:ea typeface="Open Sans"/>
                <a:cs typeface="Open Sans"/>
                <a:sym typeface="Montserrat"/>
              </a:rPr>
              <a:t>PROBLEM</a:t>
            </a:r>
            <a:endParaRPr b="1">
              <a:latin typeface="Open Sans"/>
              <a:ea typeface="Open Sans"/>
              <a:cs typeface="Open Sans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928674" y="1431491"/>
            <a:ext cx="23988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>
                <a:solidFill>
                  <a:schemeClr val="tx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Users receive messages that feel urgent and unclear.</a:t>
            </a:r>
            <a:endParaRPr sz="1000">
              <a:solidFill>
                <a:schemeClr val="tx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931880" y="1182473"/>
            <a:ext cx="2316600" cy="2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rPr>
              <a:t>Confusing, high-pressure information</a:t>
            </a:r>
            <a:endParaRPr lang="en-US" sz="1200">
              <a:solidFill>
                <a:srgbClr val="204356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3642144" y="1103179"/>
            <a:ext cx="2316600" cy="2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rPr>
              <a:t>Detection without guidance</a:t>
            </a:r>
            <a:endParaRPr sz="1200" b="1">
              <a:solidFill>
                <a:srgbClr val="20435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766445" y="1432123"/>
            <a:ext cx="2070900" cy="44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>
                <a:solidFill>
                  <a:schemeClr val="tx2">
                    <a:lumMod val="25000"/>
                  </a:schemeClr>
                </a:solidFill>
                <a:latin typeface="Open Sans"/>
                <a:ea typeface="Open Sans"/>
                <a:cs typeface="Open Sans"/>
              </a:rPr>
              <a:t>Existing tools label risk but do not tell users what to do next.</a:t>
            </a:r>
            <a:endParaRPr sz="1000">
              <a:solidFill>
                <a:schemeClr val="tx2">
                  <a:lumMod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598188" y="1402525"/>
            <a:ext cx="2152800" cy="528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>
                <a:solidFill>
                  <a:schemeClr val="tx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People must interpret, decide, and act, often under stress</a:t>
            </a:r>
            <a:r>
              <a:rPr lang="en" sz="1000">
                <a:solidFill>
                  <a:schemeClr val="tx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.</a:t>
            </a:r>
            <a:endParaRPr sz="1000">
              <a:solidFill>
                <a:schemeClr val="tx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6596298" y="1170183"/>
            <a:ext cx="2316600" cy="297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200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rPr>
              <a:t>Decision burden falls on the user</a:t>
            </a:r>
          </a:p>
        </p:txBody>
      </p:sp>
      <p:sp>
        <p:nvSpPr>
          <p:cNvPr id="78" name="Google Shape;78;p14"/>
          <p:cNvSpPr/>
          <p:nvPr/>
        </p:nvSpPr>
        <p:spPr>
          <a:xfrm>
            <a:off x="4051" y="4957010"/>
            <a:ext cx="4220877" cy="184667"/>
          </a:xfrm>
          <a:prstGeom prst="rect">
            <a:avLst/>
          </a:prstGeom>
          <a:solidFill>
            <a:srgbClr val="204356"/>
          </a:solidFill>
          <a:ln w="9525" cap="flat" cmpd="sng">
            <a:solidFill>
              <a:srgbClr val="2F6E9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2F6E91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100"/>
              </a:spcAft>
              <a:buNone/>
            </a:pPr>
            <a:endParaRPr sz="1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78;p14">
            <a:extLst>
              <a:ext uri="{FF2B5EF4-FFF2-40B4-BE49-F238E27FC236}">
                <a16:creationId xmlns:a16="http://schemas.microsoft.com/office/drawing/2014/main" id="{6D18F1A8-19AD-58AF-50C8-EAF15C0A37DD}"/>
              </a:ext>
            </a:extLst>
          </p:cNvPr>
          <p:cNvSpPr/>
          <p:nvPr/>
        </p:nvSpPr>
        <p:spPr>
          <a:xfrm>
            <a:off x="4698815" y="-16999"/>
            <a:ext cx="4445185" cy="184667"/>
          </a:xfrm>
          <a:prstGeom prst="rect">
            <a:avLst/>
          </a:prstGeom>
          <a:solidFill>
            <a:srgbClr val="204356"/>
          </a:solidFill>
          <a:ln w="9525" cap="flat" cmpd="sng">
            <a:solidFill>
              <a:srgbClr val="2F6E9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2F6E91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100"/>
              </a:spcAft>
              <a:buNone/>
            </a:pPr>
            <a:endParaRPr sz="1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80;p14">
            <a:extLst>
              <a:ext uri="{FF2B5EF4-FFF2-40B4-BE49-F238E27FC236}">
                <a16:creationId xmlns:a16="http://schemas.microsoft.com/office/drawing/2014/main" id="{4D4DE967-17F0-2E70-96D4-13C89029B89D}"/>
              </a:ext>
            </a:extLst>
          </p:cNvPr>
          <p:cNvSpPr/>
          <p:nvPr/>
        </p:nvSpPr>
        <p:spPr>
          <a:xfrm>
            <a:off x="1600574" y="2070673"/>
            <a:ext cx="2398800" cy="39920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101525" tIns="101525" rIns="101525" bIns="1015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rPr>
              <a:t>Suspicious messages</a:t>
            </a:r>
            <a:endParaRPr sz="1332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54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80;p14">
            <a:extLst>
              <a:ext uri="{FF2B5EF4-FFF2-40B4-BE49-F238E27FC236}">
                <a16:creationId xmlns:a16="http://schemas.microsoft.com/office/drawing/2014/main" id="{60046931-8DE0-FE44-AC46-039CB71A1638}"/>
              </a:ext>
            </a:extLst>
          </p:cNvPr>
          <p:cNvSpPr/>
          <p:nvPr/>
        </p:nvSpPr>
        <p:spPr>
          <a:xfrm>
            <a:off x="4894088" y="2066767"/>
            <a:ext cx="2398800" cy="39920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101525" tIns="101525" rIns="101525" bIns="1015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rPr>
              <a:t>Complex instructions</a:t>
            </a:r>
            <a:endParaRPr sz="1554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AD54A-8EEC-577A-554B-DB52B7AF1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65" y="2500322"/>
            <a:ext cx="2855607" cy="23974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17891A-27A0-3D85-8B7C-43DB54E98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999" y="2500322"/>
            <a:ext cx="2789644" cy="2456688"/>
          </a:xfrm>
          <a:prstGeom prst="rect">
            <a:avLst/>
          </a:prstGeom>
        </p:spPr>
      </p:pic>
      <p:sp>
        <p:nvSpPr>
          <p:cNvPr id="70" name="Google Shape;70;p14"/>
          <p:cNvSpPr txBox="1"/>
          <p:nvPr/>
        </p:nvSpPr>
        <p:spPr>
          <a:xfrm>
            <a:off x="3328546" y="1148123"/>
            <a:ext cx="339300" cy="365700"/>
          </a:xfrm>
          <a:prstGeom prst="rect">
            <a:avLst/>
          </a:prstGeom>
          <a:solidFill>
            <a:srgbClr val="204356"/>
          </a:solidFill>
          <a:ln w="9525" cap="flat" cmpd="sng">
            <a:solidFill>
              <a:srgbClr val="204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5F0E8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800" b="1">
              <a:solidFill>
                <a:srgbClr val="F5F0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92214" y="1148123"/>
            <a:ext cx="339300" cy="365700"/>
          </a:xfrm>
          <a:prstGeom prst="rect">
            <a:avLst/>
          </a:prstGeom>
          <a:solidFill>
            <a:srgbClr val="204356"/>
          </a:solidFill>
          <a:ln w="9525" cap="flat" cmpd="sng">
            <a:solidFill>
              <a:srgbClr val="204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5F0E8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800" b="1">
              <a:solidFill>
                <a:srgbClr val="F5F0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285479" y="1148123"/>
            <a:ext cx="339300" cy="365700"/>
          </a:xfrm>
          <a:prstGeom prst="rect">
            <a:avLst/>
          </a:prstGeom>
          <a:solidFill>
            <a:srgbClr val="204356"/>
          </a:solidFill>
          <a:ln w="9525" cap="flat" cmpd="sng">
            <a:solidFill>
              <a:srgbClr val="204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5F0E8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800" b="1">
              <a:solidFill>
                <a:srgbClr val="F5F0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F5CC40-F45E-6BD2-63BA-C37F368C2072}"/>
              </a:ext>
            </a:extLst>
          </p:cNvPr>
          <p:cNvSpPr/>
          <p:nvPr/>
        </p:nvSpPr>
        <p:spPr>
          <a:xfrm>
            <a:off x="5922236" y="1512604"/>
            <a:ext cx="2803020" cy="3016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86AF0CB-3D00-F062-F50D-EA9E640D7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08"/>
            <a:ext cx="9144000" cy="51386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D873C5-3600-9EA8-A3BB-CB4BE8A8493E}"/>
              </a:ext>
            </a:extLst>
          </p:cNvPr>
          <p:cNvSpPr/>
          <p:nvPr/>
        </p:nvSpPr>
        <p:spPr>
          <a:xfrm>
            <a:off x="2041437" y="276281"/>
            <a:ext cx="2098158" cy="1701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5F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00">
                <a:solidFill>
                  <a:srgbClr val="78818A"/>
                </a:solidFill>
                <a:latin typeface="Open Sans"/>
                <a:ea typeface="Open Sans"/>
                <a:cs typeface="Open Sans"/>
              </a:rPr>
              <a:t>Action First AI</a:t>
            </a:r>
            <a:endParaRPr lang="en-US">
              <a:solidFill>
                <a:srgbClr val="78818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CF5AD-2845-9498-72B3-AF4C3FF12267}"/>
              </a:ext>
            </a:extLst>
          </p:cNvPr>
          <p:cNvSpPr/>
          <p:nvPr/>
        </p:nvSpPr>
        <p:spPr>
          <a:xfrm>
            <a:off x="3381153" y="4940595"/>
            <a:ext cx="2388782" cy="170121"/>
          </a:xfrm>
          <a:prstGeom prst="rect">
            <a:avLst/>
          </a:prstGeom>
          <a:solidFill>
            <a:srgbClr val="1C1F26"/>
          </a:solidFill>
          <a:ln>
            <a:solidFill>
              <a:srgbClr val="1C1F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3-</a:t>
            </a:r>
            <a:r>
              <a:rPr lang="en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Montserrat"/>
              </a:rPr>
              <a:t>LAYER</a:t>
            </a:r>
            <a:r>
              <a:rPr lang="en" b="1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 AI PIPELINE</a:t>
            </a:r>
            <a:endParaRPr lang="en-US" b="1">
              <a:solidFill>
                <a:srgbClr val="374151"/>
              </a:solidFill>
              <a:latin typeface="Montserrat"/>
              <a:ea typeface="Montserrat"/>
              <a:cs typeface="Montserrat"/>
            </a:endParaRPr>
          </a:p>
        </p:txBody>
      </p:sp>
      <p:grpSp>
        <p:nvGrpSpPr>
          <p:cNvPr id="121" name="Google Shape;121;p18"/>
          <p:cNvGrpSpPr/>
          <p:nvPr/>
        </p:nvGrpSpPr>
        <p:grpSpPr>
          <a:xfrm>
            <a:off x="1556008" y="2094558"/>
            <a:ext cx="1059153" cy="1164926"/>
            <a:chOff x="623449" y="1228508"/>
            <a:chExt cx="3344343" cy="1309200"/>
          </a:xfrm>
        </p:grpSpPr>
        <p:sp>
          <p:nvSpPr>
            <p:cNvPr id="122" name="Google Shape;122;p18"/>
            <p:cNvSpPr/>
            <p:nvPr/>
          </p:nvSpPr>
          <p:spPr>
            <a:xfrm>
              <a:off x="623449" y="1228508"/>
              <a:ext cx="3332100" cy="130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0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45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5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635692" y="1229195"/>
              <a:ext cx="3332100" cy="1977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9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LAYER 1A </a:t>
              </a:r>
              <a:endParaRPr sz="769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4" name="Google Shape;124;p18"/>
          <p:cNvSpPr txBox="1"/>
          <p:nvPr/>
        </p:nvSpPr>
        <p:spPr>
          <a:xfrm>
            <a:off x="1556065" y="2363882"/>
            <a:ext cx="10320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975" tIns="57975" rIns="57975" bIns="579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r>
              <a:rPr lang="en" sz="897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Content Safety</a:t>
            </a:r>
            <a:endParaRPr sz="897" b="1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77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endParaRPr sz="577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endParaRPr sz="577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endParaRPr sz="577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r>
              <a:rPr lang="en" sz="64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Screens for crisis and Self Harm severity ≥ 4</a:t>
            </a:r>
            <a:endParaRPr sz="634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5" name="Google Shape;125;p18"/>
          <p:cNvGrpSpPr/>
          <p:nvPr/>
        </p:nvGrpSpPr>
        <p:grpSpPr>
          <a:xfrm>
            <a:off x="3017221" y="2100728"/>
            <a:ext cx="1059153" cy="1164926"/>
            <a:chOff x="623449" y="1228508"/>
            <a:chExt cx="3344343" cy="1309200"/>
          </a:xfrm>
        </p:grpSpPr>
        <p:sp>
          <p:nvSpPr>
            <p:cNvPr id="126" name="Google Shape;126;p18"/>
            <p:cNvSpPr/>
            <p:nvPr/>
          </p:nvSpPr>
          <p:spPr>
            <a:xfrm>
              <a:off x="623449" y="1228508"/>
              <a:ext cx="3332100" cy="130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45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5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635692" y="1229195"/>
              <a:ext cx="3332100" cy="1977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9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LAYER 2A </a:t>
              </a:r>
              <a:endParaRPr sz="769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8" name="Google Shape;128;p18"/>
          <p:cNvSpPr txBox="1"/>
          <p:nvPr/>
        </p:nvSpPr>
        <p:spPr>
          <a:xfrm>
            <a:off x="3017275" y="2370053"/>
            <a:ext cx="10929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975" tIns="57975" rIns="57975" bIns="579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97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AI Language</a:t>
            </a:r>
            <a:endParaRPr sz="897" b="1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r>
              <a:rPr lang="en" sz="64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Language Detection and Multilingual</a:t>
            </a:r>
            <a:endParaRPr sz="634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9" name="Google Shape;129;p18"/>
          <p:cNvGrpSpPr/>
          <p:nvPr/>
        </p:nvGrpSpPr>
        <p:grpSpPr>
          <a:xfrm>
            <a:off x="3028747" y="3452940"/>
            <a:ext cx="1059153" cy="1164926"/>
            <a:chOff x="623449" y="1228508"/>
            <a:chExt cx="3344343" cy="1309200"/>
          </a:xfrm>
        </p:grpSpPr>
        <p:sp>
          <p:nvSpPr>
            <p:cNvPr id="130" name="Google Shape;130;p18"/>
            <p:cNvSpPr/>
            <p:nvPr/>
          </p:nvSpPr>
          <p:spPr>
            <a:xfrm>
              <a:off x="623449" y="1228508"/>
              <a:ext cx="3332100" cy="130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45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5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635692" y="1229195"/>
              <a:ext cx="3332100" cy="1977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9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LAYER 2B</a:t>
              </a:r>
              <a:endParaRPr sz="769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2" name="Google Shape;132;p18"/>
          <p:cNvSpPr txBox="1"/>
          <p:nvPr/>
        </p:nvSpPr>
        <p:spPr>
          <a:xfrm>
            <a:off x="3028800" y="3722263"/>
            <a:ext cx="10320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975" tIns="57975" rIns="57975" bIns="579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97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Azure OpenAI</a:t>
            </a:r>
            <a:endParaRPr sz="897" b="1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41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endParaRPr sz="641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endParaRPr sz="641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r>
              <a:rPr lang="en" sz="641">
                <a:solidFill>
                  <a:srgbClr val="363B3E"/>
                </a:solidFill>
                <a:latin typeface="Open Sans"/>
                <a:ea typeface="Open Sans"/>
                <a:cs typeface="Open Sans"/>
                <a:sym typeface="Open Sans"/>
              </a:rPr>
              <a:t>5 boolean flags +</a:t>
            </a:r>
            <a:endParaRPr sz="641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r>
              <a:rPr lang="en" sz="641">
                <a:solidFill>
                  <a:srgbClr val="363B3E"/>
                </a:solidFill>
                <a:latin typeface="Open Sans"/>
                <a:ea typeface="Open Sans"/>
                <a:cs typeface="Open Sans"/>
                <a:sym typeface="Open Sans"/>
              </a:rPr>
              <a:t>Is it Safe only</a:t>
            </a:r>
            <a:endParaRPr sz="641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3" name="Google Shape;133;p18"/>
          <p:cNvGrpSpPr/>
          <p:nvPr/>
        </p:nvGrpSpPr>
        <p:grpSpPr>
          <a:xfrm>
            <a:off x="4527078" y="2105907"/>
            <a:ext cx="1059153" cy="1164926"/>
            <a:chOff x="623449" y="1228508"/>
            <a:chExt cx="3344343" cy="1309200"/>
          </a:xfrm>
        </p:grpSpPr>
        <p:sp>
          <p:nvSpPr>
            <p:cNvPr id="134" name="Google Shape;134;p18"/>
            <p:cNvSpPr/>
            <p:nvPr/>
          </p:nvSpPr>
          <p:spPr>
            <a:xfrm>
              <a:off x="623449" y="1228508"/>
              <a:ext cx="3332100" cy="130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45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5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635692" y="1229195"/>
              <a:ext cx="3332100" cy="1977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9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LAYER 3 </a:t>
              </a:r>
              <a:endParaRPr sz="769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6" name="Google Shape;136;p18"/>
          <p:cNvSpPr txBox="1"/>
          <p:nvPr/>
        </p:nvSpPr>
        <p:spPr>
          <a:xfrm>
            <a:off x="4492964" y="2375236"/>
            <a:ext cx="11031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975" tIns="57975" rIns="57975" bIns="579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97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Anthropic Claude</a:t>
            </a:r>
            <a:endParaRPr sz="897" b="1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Risk assessment +</a:t>
            </a:r>
            <a:endParaRPr sz="641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Step generation</a:t>
            </a:r>
            <a:endParaRPr sz="641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41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34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2696042" y="2615018"/>
            <a:ext cx="234300" cy="14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6125" cap="flat" cmpd="sng">
            <a:solidFill>
              <a:srgbClr val="7C8C95"/>
            </a:solidFill>
            <a:prstDash val="solid"/>
            <a:round/>
            <a:headEnd type="none" w="sm" len="sm"/>
            <a:tailEnd type="none" w="sm" len="sm"/>
          </a:ln>
          <a:effectLst>
            <a:outerShdw blurRad="36647" dist="12216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8650" tIns="58650" rIns="58650" bIns="5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97">
              <a:solidFill>
                <a:srgbClr val="2F6E9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166692" y="2615174"/>
            <a:ext cx="234300" cy="14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6125" cap="flat" cmpd="sng">
            <a:solidFill>
              <a:srgbClr val="7C8C95"/>
            </a:solidFill>
            <a:prstDash val="solid"/>
            <a:round/>
            <a:headEnd type="none" w="sm" len="sm"/>
            <a:tailEnd type="none" w="sm" len="sm"/>
          </a:ln>
          <a:effectLst>
            <a:outerShdw blurRad="36647" dist="12216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8650" tIns="58650" rIns="58650" bIns="5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97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285788" y="1503046"/>
            <a:ext cx="1188701" cy="756750"/>
            <a:chOff x="199210" y="1062725"/>
            <a:chExt cx="1280100" cy="956096"/>
          </a:xfrm>
        </p:grpSpPr>
        <p:sp>
          <p:nvSpPr>
            <p:cNvPr id="140" name="Google Shape;140;p18"/>
            <p:cNvSpPr/>
            <p:nvPr/>
          </p:nvSpPr>
          <p:spPr>
            <a:xfrm>
              <a:off x="265125" y="1062725"/>
              <a:ext cx="1097400" cy="914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7875" cap="flat" cmpd="sng">
              <a:solidFill>
                <a:srgbClr val="20435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7296" dist="15765" dir="540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75675" tIns="75675" rIns="75675" bIns="75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58"/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199210" y="1569421"/>
              <a:ext cx="1280100" cy="44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75" tIns="75675" rIns="75675" bIns="7567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Paste message or </a:t>
              </a:r>
              <a:endParaRPr sz="700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upload document</a:t>
              </a:r>
              <a:endParaRPr sz="700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62">
                <a:solidFill>
                  <a:srgbClr val="71160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314389" y="1297496"/>
              <a:ext cx="1030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75" tIns="75675" rIns="75675" bIns="7567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7" b="1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USER</a:t>
              </a:r>
              <a:endParaRPr sz="827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43" name="Google Shape;143;p18" title="user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7810" y="1148955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4" name="Google Shape;144;p18"/>
          <p:cNvCxnSpPr/>
          <p:nvPr/>
        </p:nvCxnSpPr>
        <p:spPr>
          <a:xfrm>
            <a:off x="883567" y="2332323"/>
            <a:ext cx="493800" cy="341700"/>
          </a:xfrm>
          <a:prstGeom prst="straightConnector1">
            <a:avLst/>
          </a:prstGeom>
          <a:noFill/>
          <a:ln w="4100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8"/>
          <p:cNvCxnSpPr/>
          <p:nvPr/>
        </p:nvCxnSpPr>
        <p:spPr>
          <a:xfrm flipH="1">
            <a:off x="5688050" y="2178324"/>
            <a:ext cx="510900" cy="693000"/>
          </a:xfrm>
          <a:prstGeom prst="straightConnector1">
            <a:avLst/>
          </a:prstGeom>
          <a:noFill/>
          <a:ln w="4100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46" name="Google Shape;146;p18"/>
          <p:cNvGrpSpPr/>
          <p:nvPr/>
        </p:nvGrpSpPr>
        <p:grpSpPr>
          <a:xfrm>
            <a:off x="1566266" y="3447502"/>
            <a:ext cx="1059153" cy="1164926"/>
            <a:chOff x="623449" y="1228508"/>
            <a:chExt cx="3344343" cy="1309200"/>
          </a:xfrm>
        </p:grpSpPr>
        <p:sp>
          <p:nvSpPr>
            <p:cNvPr id="147" name="Google Shape;147;p18"/>
            <p:cNvSpPr/>
            <p:nvPr/>
          </p:nvSpPr>
          <p:spPr>
            <a:xfrm>
              <a:off x="623449" y="1228508"/>
              <a:ext cx="3332100" cy="130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0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45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5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635692" y="1229195"/>
              <a:ext cx="3332100" cy="1977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>
              <a:outerShdw blurRad="60368" dist="33538" dir="594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64400" tIns="64400" rIns="64400" bIns="644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9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LAYER 1B </a:t>
              </a:r>
              <a:endParaRPr sz="769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9" name="Google Shape;149;p18"/>
          <p:cNvSpPr txBox="1"/>
          <p:nvPr/>
        </p:nvSpPr>
        <p:spPr>
          <a:xfrm>
            <a:off x="1566323" y="3716825"/>
            <a:ext cx="10320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975" tIns="57975" rIns="57975" bIns="579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r>
              <a:rPr lang="en" sz="897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Prompt Shields</a:t>
            </a:r>
            <a:endParaRPr sz="897" b="1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77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77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77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5"/>
              <a:buFont typeface="Arial"/>
              <a:buNone/>
            </a:pPr>
            <a:r>
              <a:rPr lang="en" sz="600">
                <a:solidFill>
                  <a:srgbClr val="363B3E"/>
                </a:solidFill>
                <a:latin typeface="Open Sans"/>
                <a:ea typeface="Open Sans"/>
                <a:cs typeface="Open Sans"/>
                <a:sym typeface="Open Sans"/>
              </a:rPr>
              <a:t>Detects jailbreak and prompt injection attempts</a:t>
            </a:r>
            <a:endParaRPr sz="6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363B3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34"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0" name="Google Shape;150;p18"/>
          <p:cNvGrpSpPr/>
          <p:nvPr/>
        </p:nvGrpSpPr>
        <p:grpSpPr>
          <a:xfrm>
            <a:off x="7647151" y="2367268"/>
            <a:ext cx="1188751" cy="768128"/>
            <a:chOff x="187190" y="1062725"/>
            <a:chExt cx="1292120" cy="956096"/>
          </a:xfrm>
        </p:grpSpPr>
        <p:sp>
          <p:nvSpPr>
            <p:cNvPr id="151" name="Google Shape;151;p18"/>
            <p:cNvSpPr/>
            <p:nvPr/>
          </p:nvSpPr>
          <p:spPr>
            <a:xfrm>
              <a:off x="265125" y="1062725"/>
              <a:ext cx="1097400" cy="914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7400" cap="flat" cmpd="sng">
              <a:solidFill>
                <a:srgbClr val="408B4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4377" dist="14792" dir="540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71000" tIns="71000" rIns="71000" bIns="710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7"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99210" y="1569421"/>
              <a:ext cx="1280100" cy="44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1000" tIns="71000" rIns="71000" bIns="710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1">
                  <a:solidFill>
                    <a:srgbClr val="38761D"/>
                  </a:solidFill>
                  <a:latin typeface="Open Sans"/>
                  <a:ea typeface="Open Sans"/>
                  <a:cs typeface="Open Sans"/>
                  <a:sym typeface="Open Sans"/>
                </a:rPr>
                <a:t>Azure Blob Storage</a:t>
              </a:r>
              <a:endParaRPr sz="1397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187190" y="1373826"/>
              <a:ext cx="12801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1000" tIns="71000" rIns="71000" bIns="710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6" b="1">
                  <a:solidFill>
                    <a:srgbClr val="38761D"/>
                  </a:solidFill>
                  <a:latin typeface="Open Sans"/>
                  <a:ea typeface="Open Sans"/>
                  <a:cs typeface="Open Sans"/>
                  <a:sym typeface="Open Sans"/>
                </a:rPr>
                <a:t>STORAGE </a:t>
              </a:r>
              <a:endParaRPr sz="776" b="1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4" name="Google Shape;154;p18"/>
          <p:cNvSpPr/>
          <p:nvPr/>
        </p:nvSpPr>
        <p:spPr>
          <a:xfrm>
            <a:off x="7414092" y="2250088"/>
            <a:ext cx="219900" cy="13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5750" cap="flat" cmpd="sng">
            <a:solidFill>
              <a:srgbClr val="408B4F"/>
            </a:solidFill>
            <a:prstDash val="solid"/>
            <a:round/>
            <a:headEnd type="none" w="sm" len="sm"/>
            <a:tailEnd type="none" w="sm" len="sm"/>
          </a:ln>
          <a:effectLst>
            <a:outerShdw blurRad="34386" dist="11462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5025" tIns="55025" rIns="55025" bIns="550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42">
              <a:solidFill>
                <a:srgbClr val="351C7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5" name="Google Shape;155;p18"/>
          <p:cNvGrpSpPr/>
          <p:nvPr/>
        </p:nvGrpSpPr>
        <p:grpSpPr>
          <a:xfrm>
            <a:off x="7653259" y="1477041"/>
            <a:ext cx="1188741" cy="768128"/>
            <a:chOff x="187200" y="1062725"/>
            <a:chExt cx="1292110" cy="956096"/>
          </a:xfrm>
        </p:grpSpPr>
        <p:sp>
          <p:nvSpPr>
            <p:cNvPr id="156" name="Google Shape;156;p18"/>
            <p:cNvSpPr/>
            <p:nvPr/>
          </p:nvSpPr>
          <p:spPr>
            <a:xfrm>
              <a:off x="265125" y="1062725"/>
              <a:ext cx="1097400" cy="914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7400" cap="flat" cmpd="sng">
              <a:solidFill>
                <a:srgbClr val="408B4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4377" dist="14792" dir="540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71000" tIns="71000" rIns="71000" bIns="710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7">
                <a:solidFill>
                  <a:srgbClr val="351C75"/>
                </a:solidFill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199210" y="1569421"/>
              <a:ext cx="1280100" cy="44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1000" tIns="71000" rIns="71000" bIns="710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1">
                  <a:solidFill>
                    <a:srgbClr val="38761D"/>
                  </a:solidFill>
                  <a:latin typeface="Open Sans"/>
                  <a:ea typeface="Open Sans"/>
                  <a:cs typeface="Open Sans"/>
                  <a:sym typeface="Open Sans"/>
                </a:rPr>
                <a:t>Azure Application Insights</a:t>
              </a:r>
              <a:endParaRPr sz="1397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187200" y="1300786"/>
              <a:ext cx="12801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1000" tIns="71000" rIns="71000" bIns="710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6" b="1">
                  <a:solidFill>
                    <a:srgbClr val="38761D"/>
                  </a:solidFill>
                  <a:latin typeface="Open Sans"/>
                  <a:ea typeface="Open Sans"/>
                  <a:cs typeface="Open Sans"/>
                  <a:sym typeface="Open Sans"/>
                </a:rPr>
                <a:t>TELEMETRY</a:t>
              </a:r>
              <a:r>
                <a:rPr lang="en" sz="776" b="1">
                  <a:solidFill>
                    <a:srgbClr val="71160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sz="776" b="1">
                <a:solidFill>
                  <a:srgbClr val="71160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9" name="Google Shape;159;p18"/>
          <p:cNvSpPr txBox="1"/>
          <p:nvPr/>
        </p:nvSpPr>
        <p:spPr>
          <a:xfrm>
            <a:off x="342736" y="889550"/>
            <a:ext cx="824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C8C95"/>
                </a:solidFill>
                <a:latin typeface="Open Sans"/>
                <a:ea typeface="Open Sans"/>
                <a:cs typeface="Open Sans"/>
                <a:sym typeface="Open Sans"/>
              </a:rPr>
              <a:t>Every request passes through a strict 3-layer sequence. Robust error handling ensures no system crash</a:t>
            </a:r>
            <a:endParaRPr sz="1200">
              <a:solidFill>
                <a:srgbClr val="7C8C9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0" name="Google Shape;160;p18"/>
          <p:cNvGrpSpPr/>
          <p:nvPr/>
        </p:nvGrpSpPr>
        <p:grpSpPr>
          <a:xfrm>
            <a:off x="6239639" y="1959676"/>
            <a:ext cx="1188741" cy="768128"/>
            <a:chOff x="187200" y="1062725"/>
            <a:chExt cx="1292110" cy="956096"/>
          </a:xfrm>
        </p:grpSpPr>
        <p:sp>
          <p:nvSpPr>
            <p:cNvPr id="161" name="Google Shape;161;p18"/>
            <p:cNvSpPr/>
            <p:nvPr/>
          </p:nvSpPr>
          <p:spPr>
            <a:xfrm>
              <a:off x="265125" y="1062725"/>
              <a:ext cx="1097400" cy="914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7875" cap="flat" cmpd="sng">
              <a:solidFill>
                <a:srgbClr val="408B4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7296" dist="15765" dir="5400000" algn="bl" rotWithShape="0">
                <a:srgbClr val="2F6E91">
                  <a:alpha val="50000"/>
                </a:srgbClr>
              </a:outerShdw>
            </a:effectLst>
          </p:spPr>
          <p:txBody>
            <a:bodyPr spcFirstLastPara="1" wrap="square" lIns="75675" tIns="75675" rIns="75675" bIns="75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58"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187200" y="1300786"/>
              <a:ext cx="12801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75" tIns="75675" rIns="75675" bIns="7567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7" b="1">
                  <a:solidFill>
                    <a:srgbClr val="38761D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VALIDATION </a:t>
              </a:r>
              <a:endParaRPr sz="827" b="1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199210" y="1569421"/>
              <a:ext cx="1280100" cy="44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75" tIns="75675" rIns="75675" bIns="7567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2">
                  <a:solidFill>
                    <a:srgbClr val="38761D"/>
                  </a:solidFill>
                  <a:latin typeface="Open Sans"/>
                  <a:ea typeface="Open Sans"/>
                  <a:cs typeface="Open Sans"/>
                  <a:sym typeface="Open Sans"/>
                </a:rPr>
                <a:t>Python enforcement</a:t>
              </a:r>
              <a:endParaRPr sz="662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2">
                  <a:solidFill>
                    <a:srgbClr val="38761D"/>
                  </a:solidFill>
                  <a:latin typeface="Open Sans"/>
                  <a:ea typeface="Open Sans"/>
                  <a:cs typeface="Open Sans"/>
                  <a:sym typeface="Open Sans"/>
                </a:rPr>
                <a:t>layer</a:t>
              </a:r>
              <a:endParaRPr sz="1489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64" name="Google Shape;164;p18" title="databas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7226" y="2425031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title="insights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3326" y="1496279"/>
            <a:ext cx="210312" cy="21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title="approval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9713" y="198855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/>
          <p:nvPr/>
        </p:nvSpPr>
        <p:spPr>
          <a:xfrm>
            <a:off x="1441877" y="4760666"/>
            <a:ext cx="1188600" cy="183000"/>
          </a:xfrm>
          <a:prstGeom prst="roundRect">
            <a:avLst>
              <a:gd name="adj" fmla="val 16667"/>
            </a:avLst>
          </a:prstGeom>
          <a:solidFill>
            <a:srgbClr val="6D839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Safety Screen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126500" y="3326325"/>
            <a:ext cx="1217100" cy="210300"/>
          </a:xfrm>
          <a:prstGeom prst="roundRect">
            <a:avLst>
              <a:gd name="adj" fmla="val 16667"/>
            </a:avLst>
          </a:prstGeom>
          <a:solidFill>
            <a:srgbClr val="7C8C95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Enforcement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009549" y="4757012"/>
            <a:ext cx="1188600" cy="183000"/>
          </a:xfrm>
          <a:prstGeom prst="roundRect">
            <a:avLst>
              <a:gd name="adj" fmla="val 16667"/>
            </a:avLst>
          </a:prstGeom>
          <a:solidFill>
            <a:srgbClr val="6D839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Context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529725" y="3447512"/>
            <a:ext cx="1188600" cy="183000"/>
          </a:xfrm>
          <a:prstGeom prst="roundRect">
            <a:avLst>
              <a:gd name="adj" fmla="val 16667"/>
            </a:avLst>
          </a:prstGeom>
          <a:solidFill>
            <a:srgbClr val="6D839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AI reasoning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98EE2E3-C239-EE6D-6676-D0712509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>
            <a:extLst>
              <a:ext uri="{FF2B5EF4-FFF2-40B4-BE49-F238E27FC236}">
                <a16:creationId xmlns:a16="http://schemas.microsoft.com/office/drawing/2014/main" id="{BFA3DFDC-2A95-E760-C1F3-B6B68BFB5F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2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Calibri"/>
              </a:rPr>
              <a:t>POWERED BY AZURE AI &amp; CLOUD </a:t>
            </a:r>
            <a:r>
              <a:rPr lang="en-US" sz="2200" b="1">
                <a:latin typeface="Open Sans"/>
                <a:ea typeface="Open Sans"/>
                <a:cs typeface="Open Sans"/>
              </a:rPr>
              <a:t>SERVICES</a:t>
            </a:r>
            <a:endParaRPr lang="en" sz="2200">
              <a:latin typeface="Open Sans"/>
              <a:ea typeface="Open Sans"/>
              <a:cs typeface="Open Sa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b="1">
              <a:solidFill>
                <a:srgbClr val="374151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176" name="Google Shape;176;p19">
            <a:extLst>
              <a:ext uri="{FF2B5EF4-FFF2-40B4-BE49-F238E27FC236}">
                <a16:creationId xmlns:a16="http://schemas.microsoft.com/office/drawing/2014/main" id="{7F75F381-0A6F-2FE2-EC12-4B9E6DB7080E}"/>
              </a:ext>
            </a:extLst>
          </p:cNvPr>
          <p:cNvGrpSpPr/>
          <p:nvPr/>
        </p:nvGrpSpPr>
        <p:grpSpPr>
          <a:xfrm>
            <a:off x="3331924" y="2313435"/>
            <a:ext cx="2520423" cy="631385"/>
            <a:chOff x="456500" y="2404456"/>
            <a:chExt cx="1808700" cy="711901"/>
          </a:xfrm>
        </p:grpSpPr>
        <p:sp>
          <p:nvSpPr>
            <p:cNvPr id="177" name="Google Shape;177;p19">
              <a:extLst>
                <a:ext uri="{FF2B5EF4-FFF2-40B4-BE49-F238E27FC236}">
                  <a16:creationId xmlns:a16="http://schemas.microsoft.com/office/drawing/2014/main" id="{C83731EF-A5B1-5AAC-F89A-7070EA9002E4}"/>
                </a:ext>
              </a:extLst>
            </p:cNvPr>
            <p:cNvSpPr/>
            <p:nvPr/>
          </p:nvSpPr>
          <p:spPr>
            <a:xfrm>
              <a:off x="456500" y="2404457"/>
              <a:ext cx="1808700" cy="711900"/>
            </a:xfrm>
            <a:prstGeom prst="rect">
              <a:avLst/>
            </a:prstGeom>
            <a:solidFill>
              <a:schemeClr val="lt1"/>
            </a:solidFill>
            <a:ln w="10500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12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App Service</a:t>
              </a:r>
              <a:endParaRPr sz="1200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61"/>
                <a:buFont typeface="Arial"/>
                <a:buNone/>
              </a:pPr>
              <a:r>
                <a:rPr lang="en" sz="1543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992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Calibri"/>
                </a:rPr>
                <a:t>Managed hosting + CI/CD</a:t>
              </a:r>
              <a:endParaRPr sz="992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78" name="Google Shape;178;p19">
              <a:extLst>
                <a:ext uri="{FF2B5EF4-FFF2-40B4-BE49-F238E27FC236}">
                  <a16:creationId xmlns:a16="http://schemas.microsoft.com/office/drawing/2014/main" id="{C7A8D778-7B90-1730-0377-8AE49ECD4BA0}"/>
                </a:ext>
              </a:extLst>
            </p:cNvPr>
            <p:cNvSpPr/>
            <p:nvPr/>
          </p:nvSpPr>
          <p:spPr>
            <a:xfrm>
              <a:off x="456500" y="2404456"/>
              <a:ext cx="85345" cy="7119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05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</p:grpSp>
      <p:sp>
        <p:nvSpPr>
          <p:cNvPr id="179" name="Google Shape;179;p19">
            <a:extLst>
              <a:ext uri="{FF2B5EF4-FFF2-40B4-BE49-F238E27FC236}">
                <a16:creationId xmlns:a16="http://schemas.microsoft.com/office/drawing/2014/main" id="{BA7F22A5-4E34-F854-76A1-11E081BEDAD9}"/>
              </a:ext>
            </a:extLst>
          </p:cNvPr>
          <p:cNvSpPr txBox="1"/>
          <p:nvPr/>
        </p:nvSpPr>
        <p:spPr>
          <a:xfrm>
            <a:off x="311700" y="902225"/>
            <a:ext cx="7381034" cy="76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200">
                <a:solidFill>
                  <a:srgbClr val="7C8C95"/>
                </a:solidFill>
                <a:latin typeface="Open Sans"/>
                <a:ea typeface="Open Sans"/>
                <a:cs typeface="Open Sans"/>
                <a:sym typeface="Open Sans"/>
              </a:rPr>
              <a:t>Built using 10 Azure services across safety, intelligence, and infrastructure</a:t>
            </a:r>
            <a:endParaRPr lang="en-US" sz="1200">
              <a:solidFill>
                <a:srgbClr val="7C8C95"/>
              </a:solidFill>
              <a:latin typeface="Open Sans"/>
              <a:ea typeface="Open Sans"/>
              <a:cs typeface="Open Sans"/>
            </a:endParaRPr>
          </a:p>
          <a:p>
            <a:pPr algn="ctr"/>
            <a:endParaRPr lang="en-US" sz="1200">
              <a:solidFill>
                <a:srgbClr val="7C8C95"/>
              </a:solidFill>
              <a:latin typeface="Open Sans"/>
              <a:ea typeface="Open Sans"/>
              <a:cs typeface="Open Sans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200">
              <a:solidFill>
                <a:srgbClr val="7C8C95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180" name="Google Shape;180;p19">
            <a:extLst>
              <a:ext uri="{FF2B5EF4-FFF2-40B4-BE49-F238E27FC236}">
                <a16:creationId xmlns:a16="http://schemas.microsoft.com/office/drawing/2014/main" id="{181E7A72-A191-F8E1-A3F0-49803B3EBB79}"/>
              </a:ext>
            </a:extLst>
          </p:cNvPr>
          <p:cNvGrpSpPr/>
          <p:nvPr/>
        </p:nvGrpSpPr>
        <p:grpSpPr>
          <a:xfrm>
            <a:off x="3322616" y="1411568"/>
            <a:ext cx="2555575" cy="631403"/>
            <a:chOff x="456500" y="2404435"/>
            <a:chExt cx="2294671" cy="711921"/>
          </a:xfrm>
        </p:grpSpPr>
        <p:sp>
          <p:nvSpPr>
            <p:cNvPr id="181" name="Google Shape;181;p19">
              <a:extLst>
                <a:ext uri="{FF2B5EF4-FFF2-40B4-BE49-F238E27FC236}">
                  <a16:creationId xmlns:a16="http://schemas.microsoft.com/office/drawing/2014/main" id="{BC415350-1BFA-1C45-0A78-CD7B481B4D86}"/>
                </a:ext>
              </a:extLst>
            </p:cNvPr>
            <p:cNvSpPr/>
            <p:nvPr/>
          </p:nvSpPr>
          <p:spPr>
            <a:xfrm>
              <a:off x="488571" y="2404435"/>
              <a:ext cx="2262600" cy="711900"/>
            </a:xfrm>
            <a:prstGeom prst="rect">
              <a:avLst/>
            </a:prstGeom>
            <a:solidFill>
              <a:schemeClr val="lt1"/>
            </a:solidFill>
            <a:ln w="10500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</a:t>
              </a:r>
              <a:r>
                <a:rPr lang="en" sz="12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Content Safety</a:t>
              </a:r>
              <a:endParaRPr sz="1200" b="1">
                <a:solidFill>
                  <a:srgbClr val="2F6E91"/>
                </a:solidFill>
                <a:latin typeface="Open Sans"/>
                <a:ea typeface="Open Sans"/>
                <a:cs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2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Calibri"/>
                </a:rPr>
                <a:t>  Crisis screening  +  jailbreak detection      </a:t>
              </a:r>
              <a:endParaRPr sz="992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2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Calibri"/>
                </a:rPr>
                <a:t>  before LLM</a:t>
              </a:r>
              <a:endParaRPr sz="992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82" name="Google Shape;182;p19">
              <a:extLst>
                <a:ext uri="{FF2B5EF4-FFF2-40B4-BE49-F238E27FC236}">
                  <a16:creationId xmlns:a16="http://schemas.microsoft.com/office/drawing/2014/main" id="{2F394CAA-9061-3017-2048-9B14B5F42D87}"/>
                </a:ext>
              </a:extLst>
            </p:cNvPr>
            <p:cNvSpPr/>
            <p:nvPr/>
          </p:nvSpPr>
          <p:spPr>
            <a:xfrm>
              <a:off x="456500" y="2404456"/>
              <a:ext cx="108686" cy="7119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05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183" name="Google Shape;183;p19">
            <a:extLst>
              <a:ext uri="{FF2B5EF4-FFF2-40B4-BE49-F238E27FC236}">
                <a16:creationId xmlns:a16="http://schemas.microsoft.com/office/drawing/2014/main" id="{DA201B44-5FDA-D6C4-B72E-3C401E4CA48F}"/>
              </a:ext>
            </a:extLst>
          </p:cNvPr>
          <p:cNvGrpSpPr/>
          <p:nvPr/>
        </p:nvGrpSpPr>
        <p:grpSpPr>
          <a:xfrm>
            <a:off x="420176" y="1420499"/>
            <a:ext cx="2520544" cy="631400"/>
            <a:chOff x="456498" y="2404438"/>
            <a:chExt cx="2286000" cy="711918"/>
          </a:xfrm>
        </p:grpSpPr>
        <p:sp>
          <p:nvSpPr>
            <p:cNvPr id="184" name="Google Shape;184;p19">
              <a:extLst>
                <a:ext uri="{FF2B5EF4-FFF2-40B4-BE49-F238E27FC236}">
                  <a16:creationId xmlns:a16="http://schemas.microsoft.com/office/drawing/2014/main" id="{7E453EEC-94D3-97B9-FEC1-B93050340F97}"/>
                </a:ext>
              </a:extLst>
            </p:cNvPr>
            <p:cNvSpPr/>
            <p:nvPr/>
          </p:nvSpPr>
          <p:spPr>
            <a:xfrm>
              <a:off x="456498" y="2404438"/>
              <a:ext cx="2286000" cy="711900"/>
            </a:xfrm>
            <a:prstGeom prst="rect">
              <a:avLst/>
            </a:prstGeom>
            <a:solidFill>
              <a:schemeClr val="lt1"/>
            </a:solidFill>
            <a:ln w="10500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-US" sz="12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Azure OpenAI</a:t>
              </a: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</a:t>
              </a:r>
              <a:endParaRPr sz="1500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-US" sz="95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Calibri"/>
                </a:rPr>
                <a:t>Signal classification, 5 Boolean flags</a:t>
              </a:r>
              <a:endParaRPr lang="en-US" sz="950">
                <a:solidFill>
                  <a:srgbClr val="374151"/>
                </a:solidFill>
                <a:latin typeface="Open Sans"/>
                <a:ea typeface="Open Sans"/>
                <a:cs typeface="Open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543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85" name="Google Shape;185;p19">
              <a:extLst>
                <a:ext uri="{FF2B5EF4-FFF2-40B4-BE49-F238E27FC236}">
                  <a16:creationId xmlns:a16="http://schemas.microsoft.com/office/drawing/2014/main" id="{C88C6FA7-1676-BEA6-A781-50A6F418A84F}"/>
                </a:ext>
              </a:extLst>
            </p:cNvPr>
            <p:cNvSpPr/>
            <p:nvPr/>
          </p:nvSpPr>
          <p:spPr>
            <a:xfrm>
              <a:off x="456500" y="2404456"/>
              <a:ext cx="111340" cy="7119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05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186" name="Google Shape;186;p19">
            <a:extLst>
              <a:ext uri="{FF2B5EF4-FFF2-40B4-BE49-F238E27FC236}">
                <a16:creationId xmlns:a16="http://schemas.microsoft.com/office/drawing/2014/main" id="{8778228A-D5A3-8372-61AF-AA93717DCA64}"/>
              </a:ext>
            </a:extLst>
          </p:cNvPr>
          <p:cNvGrpSpPr/>
          <p:nvPr/>
        </p:nvGrpSpPr>
        <p:grpSpPr>
          <a:xfrm>
            <a:off x="411931" y="2330971"/>
            <a:ext cx="2520423" cy="631385"/>
            <a:chOff x="456500" y="2404456"/>
            <a:chExt cx="1808700" cy="711901"/>
          </a:xfrm>
        </p:grpSpPr>
        <p:sp>
          <p:nvSpPr>
            <p:cNvPr id="187" name="Google Shape;187;p19">
              <a:extLst>
                <a:ext uri="{FF2B5EF4-FFF2-40B4-BE49-F238E27FC236}">
                  <a16:creationId xmlns:a16="http://schemas.microsoft.com/office/drawing/2014/main" id="{FDDFA1CF-888A-8D4D-0C04-E87D1DBD56B0}"/>
                </a:ext>
              </a:extLst>
            </p:cNvPr>
            <p:cNvSpPr/>
            <p:nvPr/>
          </p:nvSpPr>
          <p:spPr>
            <a:xfrm>
              <a:off x="456500" y="2404457"/>
              <a:ext cx="1808700" cy="711900"/>
            </a:xfrm>
            <a:prstGeom prst="rect">
              <a:avLst/>
            </a:prstGeom>
            <a:solidFill>
              <a:schemeClr val="lt1"/>
            </a:solidFill>
            <a:ln w="10500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12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Azure AI Language</a:t>
              </a:r>
              <a:endParaRPr sz="1200" b="1">
                <a:solidFill>
                  <a:srgbClr val="2F6E91"/>
                </a:solidFill>
                <a:latin typeface="Open Sans"/>
                <a:ea typeface="Open Sans"/>
                <a:cs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43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992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Calibri"/>
                </a:rPr>
                <a:t>Multilingual detection</a:t>
              </a:r>
              <a:endParaRPr sz="992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88" name="Google Shape;188;p19">
              <a:extLst>
                <a:ext uri="{FF2B5EF4-FFF2-40B4-BE49-F238E27FC236}">
                  <a16:creationId xmlns:a16="http://schemas.microsoft.com/office/drawing/2014/main" id="{1973E29D-A905-97D9-D759-6FA556BDC8B9}"/>
                </a:ext>
              </a:extLst>
            </p:cNvPr>
            <p:cNvSpPr/>
            <p:nvPr/>
          </p:nvSpPr>
          <p:spPr>
            <a:xfrm>
              <a:off x="456500" y="2404456"/>
              <a:ext cx="88984" cy="7119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05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189" name="Google Shape;189;p19">
            <a:extLst>
              <a:ext uri="{FF2B5EF4-FFF2-40B4-BE49-F238E27FC236}">
                <a16:creationId xmlns:a16="http://schemas.microsoft.com/office/drawing/2014/main" id="{EAFD6FAA-0570-A28E-05B4-D34E6BB0D351}"/>
              </a:ext>
            </a:extLst>
          </p:cNvPr>
          <p:cNvGrpSpPr/>
          <p:nvPr/>
        </p:nvGrpSpPr>
        <p:grpSpPr>
          <a:xfrm>
            <a:off x="6269429" y="2313142"/>
            <a:ext cx="2519858" cy="631403"/>
            <a:chOff x="456500" y="2404435"/>
            <a:chExt cx="2262600" cy="711921"/>
          </a:xfrm>
        </p:grpSpPr>
        <p:sp>
          <p:nvSpPr>
            <p:cNvPr id="190" name="Google Shape;190;p19">
              <a:extLst>
                <a:ext uri="{FF2B5EF4-FFF2-40B4-BE49-F238E27FC236}">
                  <a16:creationId xmlns:a16="http://schemas.microsoft.com/office/drawing/2014/main" id="{99B89540-7A8B-2269-75FA-EB1E03F4555D}"/>
                </a:ext>
              </a:extLst>
            </p:cNvPr>
            <p:cNvSpPr/>
            <p:nvPr/>
          </p:nvSpPr>
          <p:spPr>
            <a:xfrm>
              <a:off x="456500" y="2404435"/>
              <a:ext cx="2262600" cy="711900"/>
            </a:xfrm>
            <a:prstGeom prst="rect">
              <a:avLst/>
            </a:prstGeom>
            <a:solidFill>
              <a:schemeClr val="lt1"/>
            </a:solidFill>
            <a:ln w="10500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12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Azure Key Vault</a:t>
              </a:r>
              <a:br>
                <a:rPr lang="en" sz="1500" b="1">
                  <a:latin typeface="Open Sans"/>
                  <a:ea typeface="Open Sans"/>
                  <a:cs typeface="Open Sans"/>
                </a:rPr>
              </a:b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</a:t>
              </a:r>
              <a:r>
                <a:rPr lang="en" sz="95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Calibri"/>
                </a:rPr>
                <a:t> Secret Management, no keys in code</a:t>
              </a:r>
              <a:endParaRPr sz="95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91" name="Google Shape;191;p19">
              <a:extLst>
                <a:ext uri="{FF2B5EF4-FFF2-40B4-BE49-F238E27FC236}">
                  <a16:creationId xmlns:a16="http://schemas.microsoft.com/office/drawing/2014/main" id="{EDDDB5E5-690A-77F5-BD87-66ECDA342EC7}"/>
                </a:ext>
              </a:extLst>
            </p:cNvPr>
            <p:cNvSpPr/>
            <p:nvPr/>
          </p:nvSpPr>
          <p:spPr>
            <a:xfrm>
              <a:off x="456500" y="2404456"/>
              <a:ext cx="105624" cy="7119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05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192" name="Google Shape;192;p19">
            <a:extLst>
              <a:ext uri="{FF2B5EF4-FFF2-40B4-BE49-F238E27FC236}">
                <a16:creationId xmlns:a16="http://schemas.microsoft.com/office/drawing/2014/main" id="{820AD24D-CEC7-44F2-7530-52807A314400}"/>
              </a:ext>
            </a:extLst>
          </p:cNvPr>
          <p:cNvGrpSpPr/>
          <p:nvPr/>
        </p:nvGrpSpPr>
        <p:grpSpPr>
          <a:xfrm>
            <a:off x="6260205" y="1402314"/>
            <a:ext cx="2520544" cy="631401"/>
            <a:chOff x="456498" y="2404437"/>
            <a:chExt cx="2286000" cy="711919"/>
          </a:xfrm>
        </p:grpSpPr>
        <p:sp>
          <p:nvSpPr>
            <p:cNvPr id="193" name="Google Shape;193;p19">
              <a:extLst>
                <a:ext uri="{FF2B5EF4-FFF2-40B4-BE49-F238E27FC236}">
                  <a16:creationId xmlns:a16="http://schemas.microsoft.com/office/drawing/2014/main" id="{8CE02D04-B917-C260-31E4-0D82FAD14CC4}"/>
                </a:ext>
              </a:extLst>
            </p:cNvPr>
            <p:cNvSpPr/>
            <p:nvPr/>
          </p:nvSpPr>
          <p:spPr>
            <a:xfrm>
              <a:off x="456498" y="2404437"/>
              <a:ext cx="2286000" cy="711900"/>
            </a:xfrm>
            <a:prstGeom prst="rect">
              <a:avLst/>
            </a:prstGeom>
            <a:solidFill>
              <a:schemeClr val="lt1"/>
            </a:solidFill>
            <a:ln w="10500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12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Blob Storage</a:t>
              </a:r>
              <a:endParaRPr sz="1200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95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Calibri"/>
                </a:rPr>
                <a:t>Audit log and no raw content</a:t>
              </a:r>
              <a:endParaRPr sz="95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94" name="Google Shape;194;p19">
              <a:extLst>
                <a:ext uri="{FF2B5EF4-FFF2-40B4-BE49-F238E27FC236}">
                  <a16:creationId xmlns:a16="http://schemas.microsoft.com/office/drawing/2014/main" id="{C0ABF5C4-9CD1-600C-D737-4B7F12C04EAB}"/>
                </a:ext>
              </a:extLst>
            </p:cNvPr>
            <p:cNvSpPr/>
            <p:nvPr/>
          </p:nvSpPr>
          <p:spPr>
            <a:xfrm>
              <a:off x="456500" y="2404456"/>
              <a:ext cx="106281" cy="7119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05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195" name="Google Shape;195;p19">
            <a:extLst>
              <a:ext uri="{FF2B5EF4-FFF2-40B4-BE49-F238E27FC236}">
                <a16:creationId xmlns:a16="http://schemas.microsoft.com/office/drawing/2014/main" id="{BB061870-EBE6-1DDD-42E4-8D0F57702EE4}"/>
              </a:ext>
            </a:extLst>
          </p:cNvPr>
          <p:cNvGrpSpPr/>
          <p:nvPr/>
        </p:nvGrpSpPr>
        <p:grpSpPr>
          <a:xfrm>
            <a:off x="3331938" y="3205752"/>
            <a:ext cx="2520423" cy="631385"/>
            <a:chOff x="456500" y="2404456"/>
            <a:chExt cx="1808700" cy="711901"/>
          </a:xfrm>
        </p:grpSpPr>
        <p:sp>
          <p:nvSpPr>
            <p:cNvPr id="196" name="Google Shape;196;p19">
              <a:extLst>
                <a:ext uri="{FF2B5EF4-FFF2-40B4-BE49-F238E27FC236}">
                  <a16:creationId xmlns:a16="http://schemas.microsoft.com/office/drawing/2014/main" id="{871A01A3-5794-7E50-2A8C-5772D9497729}"/>
                </a:ext>
              </a:extLst>
            </p:cNvPr>
            <p:cNvSpPr/>
            <p:nvPr/>
          </p:nvSpPr>
          <p:spPr>
            <a:xfrm>
              <a:off x="462908" y="2404457"/>
              <a:ext cx="1802292" cy="711900"/>
            </a:xfrm>
            <a:prstGeom prst="rect">
              <a:avLst/>
            </a:prstGeom>
            <a:solidFill>
              <a:schemeClr val="lt1"/>
            </a:solidFill>
            <a:ln w="10500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12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Azure Application Insights</a:t>
              </a:r>
              <a:endParaRPr sz="1400" b="1">
                <a:solidFill>
                  <a:srgbClr val="2F6E91"/>
                </a:solidFill>
                <a:latin typeface="Open Sans"/>
                <a:ea typeface="Open Sans"/>
                <a:cs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95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Calibri"/>
                </a:rPr>
                <a:t>28 custom telemetry events</a:t>
              </a:r>
              <a:endParaRPr sz="95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197" name="Google Shape;197;p19">
              <a:extLst>
                <a:ext uri="{FF2B5EF4-FFF2-40B4-BE49-F238E27FC236}">
                  <a16:creationId xmlns:a16="http://schemas.microsoft.com/office/drawing/2014/main" id="{1160C1F1-6799-4AD5-1AA7-D8DF895B04FE}"/>
                </a:ext>
              </a:extLst>
            </p:cNvPr>
            <p:cNvSpPr/>
            <p:nvPr/>
          </p:nvSpPr>
          <p:spPr>
            <a:xfrm>
              <a:off x="456500" y="2404456"/>
              <a:ext cx="87347" cy="7119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05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</p:grp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455E146E-5800-2BFA-12C0-FD402AEED38A}"/>
              </a:ext>
            </a:extLst>
          </p:cNvPr>
          <p:cNvSpPr/>
          <p:nvPr/>
        </p:nvSpPr>
        <p:spPr>
          <a:xfrm>
            <a:off x="6283867" y="3205733"/>
            <a:ext cx="2519858" cy="631384"/>
          </a:xfrm>
          <a:prstGeom prst="rect">
            <a:avLst/>
          </a:prstGeom>
          <a:solidFill>
            <a:schemeClr val="lt1"/>
          </a:solidFill>
          <a:ln w="10500" cap="flat" cmpd="sng">
            <a:solidFill>
              <a:srgbClr val="2F6E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825" tIns="100825" rIns="100825" bIns="100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43">
              <a:solidFill>
                <a:srgbClr val="2F6E91"/>
              </a:solidFill>
              <a:latin typeface="Open Sans"/>
              <a:ea typeface="Open Sans"/>
              <a:cs typeface="Open Sans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rPr>
              <a:t>  </a:t>
            </a:r>
            <a:r>
              <a:rPr lang="en" sz="1200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rPr>
              <a:t>Azure Cosmos DB</a:t>
            </a:r>
            <a:endParaRPr sz="1200" b="1">
              <a:solidFill>
                <a:srgbClr val="2F6E91"/>
              </a:solidFill>
              <a:latin typeface="Open Sans"/>
              <a:ea typeface="Open Sans"/>
              <a:cs typeface="Open Sans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43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rPr>
              <a:t>  </a:t>
            </a:r>
            <a:r>
              <a:rPr lang="en" sz="992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rPr>
              <a:t>Accessibility preferences</a:t>
            </a:r>
            <a:endParaRPr sz="992">
              <a:solidFill>
                <a:srgbClr val="374151"/>
              </a:solidFill>
              <a:latin typeface="Open Sans"/>
              <a:ea typeface="Open Sans"/>
              <a:cs typeface="Open Sans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43">
              <a:latin typeface="Open Sans"/>
              <a:ea typeface="Open Sans"/>
              <a:cs typeface="Open Sans"/>
            </a:endParaRP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E561A48A-5E79-B982-B397-BB3CFC78A352}"/>
              </a:ext>
            </a:extLst>
          </p:cNvPr>
          <p:cNvGrpSpPr/>
          <p:nvPr/>
        </p:nvGrpSpPr>
        <p:grpSpPr>
          <a:xfrm>
            <a:off x="407487" y="3223338"/>
            <a:ext cx="2519858" cy="631384"/>
            <a:chOff x="456500" y="2404435"/>
            <a:chExt cx="2262600" cy="71190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91B500F5-D11B-5704-9B07-35BCE9391489}"/>
                </a:ext>
              </a:extLst>
            </p:cNvPr>
            <p:cNvSpPr/>
            <p:nvPr/>
          </p:nvSpPr>
          <p:spPr>
            <a:xfrm>
              <a:off x="456500" y="2404435"/>
              <a:ext cx="2262600" cy="711900"/>
            </a:xfrm>
            <a:prstGeom prst="rect">
              <a:avLst/>
            </a:prstGeom>
            <a:solidFill>
              <a:schemeClr val="lt1"/>
            </a:solidFill>
            <a:ln w="10500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 dirty="0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 dirty="0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1200" b="1" dirty="0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Azure AI Speech</a:t>
              </a:r>
              <a:endParaRPr sz="1200" b="1" dirty="0">
                <a:solidFill>
                  <a:srgbClr val="2F6E91"/>
                </a:solidFill>
                <a:latin typeface="Open Sans"/>
                <a:ea typeface="Open Sans"/>
                <a:cs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 dirty="0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Calibri"/>
                </a:rPr>
                <a:t>  </a:t>
              </a:r>
              <a:r>
                <a:rPr lang="en" sz="950" dirty="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Calibri"/>
                </a:rPr>
                <a:t>Text-to-speech</a:t>
              </a:r>
              <a:endParaRPr sz="950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 dirty="0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7C8E2714-1E7C-4A10-226C-7FEF1E167B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6500" y="2404455"/>
              <a:ext cx="107785" cy="70097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05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0825" tIns="100825" rIns="100825" bIns="10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3">
                <a:latin typeface="Open Sans"/>
                <a:ea typeface="Open Sans"/>
                <a:cs typeface="Open Sans"/>
              </a:endParaRPr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8E7B78ED-0487-E5BE-91A6-96E9862CA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9642" y="1494830"/>
            <a:ext cx="171450" cy="1714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3557E8-2B3E-38F8-B8AC-FBBDB3BC69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24807" y="2446902"/>
            <a:ext cx="171450" cy="1714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3D16A5A-6A43-55C9-D7CA-83064FB1A5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8054" y="1555799"/>
            <a:ext cx="171450" cy="1714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3124F07-02C3-CEF1-3F0E-F98FA70982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39125" y="3361134"/>
            <a:ext cx="171450" cy="171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13EB55C-C8BF-D816-1597-43D71BE101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39506" y="2441376"/>
            <a:ext cx="171450" cy="1714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B221F31-DCB8-B8B2-A5E9-A3E5198FD3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16976" y="3320119"/>
            <a:ext cx="171450" cy="1714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9B9C08D-4065-9983-8ADE-CD62FA74C8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27297" y="3334345"/>
            <a:ext cx="171450" cy="1714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94D2B9A-0992-F584-A0DA-22143A52BBC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34635" y="1539478"/>
            <a:ext cx="171450" cy="1714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B9821E2-5438-F955-C5ED-8430D5CA978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61282" y="2427200"/>
            <a:ext cx="171450" cy="171450"/>
          </a:xfrm>
          <a:prstGeom prst="rect">
            <a:avLst/>
          </a:prstGeom>
        </p:spPr>
      </p:pic>
      <p:sp>
        <p:nvSpPr>
          <p:cNvPr id="2" name="Google Shape;191;p19">
            <a:extLst>
              <a:ext uri="{FF2B5EF4-FFF2-40B4-BE49-F238E27FC236}">
                <a16:creationId xmlns:a16="http://schemas.microsoft.com/office/drawing/2014/main" id="{C5C78C8F-EAC3-65F0-4AC1-ADB388BB434A}"/>
              </a:ext>
            </a:extLst>
          </p:cNvPr>
          <p:cNvSpPr/>
          <p:nvPr/>
        </p:nvSpPr>
        <p:spPr>
          <a:xfrm>
            <a:off x="6283867" y="3205733"/>
            <a:ext cx="117633" cy="63138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0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825" tIns="100825" rIns="100825" bIns="100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43">
              <a:latin typeface="Open Sans"/>
              <a:ea typeface="Open Sans"/>
              <a:cs typeface="Open Sans"/>
            </a:endParaRPr>
          </a:p>
        </p:txBody>
      </p:sp>
      <p:sp>
        <p:nvSpPr>
          <p:cNvPr id="15" name="Google Shape;196;p19">
            <a:extLst>
              <a:ext uri="{FF2B5EF4-FFF2-40B4-BE49-F238E27FC236}">
                <a16:creationId xmlns:a16="http://schemas.microsoft.com/office/drawing/2014/main" id="{0C4AE4A6-BF2D-59F2-778D-0B8C9B6B03D2}"/>
              </a:ext>
            </a:extLst>
          </p:cNvPr>
          <p:cNvSpPr/>
          <p:nvPr/>
        </p:nvSpPr>
        <p:spPr>
          <a:xfrm>
            <a:off x="3340868" y="4067091"/>
            <a:ext cx="2511493" cy="631384"/>
          </a:xfrm>
          <a:prstGeom prst="rect">
            <a:avLst/>
          </a:prstGeom>
          <a:solidFill>
            <a:schemeClr val="lt1"/>
          </a:solidFill>
          <a:ln w="10500" cap="flat" cmpd="sng">
            <a:solidFill>
              <a:srgbClr val="2F6E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825" tIns="100825" rIns="100825" bIns="100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43">
              <a:solidFill>
                <a:srgbClr val="2F6E91"/>
              </a:solidFill>
              <a:latin typeface="Open Sans"/>
              <a:ea typeface="Open Sans"/>
              <a:cs typeface="Open Sans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rPr>
              <a:t>  </a:t>
            </a:r>
            <a:r>
              <a:rPr lang="en-US" sz="1200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rPr>
              <a:t>Foundry </a:t>
            </a:r>
            <a:endParaRPr lang="en-US" sz="1200" b="1">
              <a:solidFill>
                <a:srgbClr val="2F6E91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1543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Calibri"/>
              </a:rPr>
              <a:t>  </a:t>
            </a:r>
            <a:r>
              <a:rPr lang="en-US" sz="992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rPr>
              <a:t>Model deployment platform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543">
              <a:latin typeface="Open Sans"/>
              <a:ea typeface="Open Sans"/>
              <a:cs typeface="Open Sans"/>
            </a:endParaRPr>
          </a:p>
        </p:txBody>
      </p:sp>
      <p:sp>
        <p:nvSpPr>
          <p:cNvPr id="16" name="Google Shape;197;p19">
            <a:extLst>
              <a:ext uri="{FF2B5EF4-FFF2-40B4-BE49-F238E27FC236}">
                <a16:creationId xmlns:a16="http://schemas.microsoft.com/office/drawing/2014/main" id="{B389E84F-2445-E53B-6AB7-D42FBE8F92CF}"/>
              </a:ext>
            </a:extLst>
          </p:cNvPr>
          <p:cNvSpPr/>
          <p:nvPr/>
        </p:nvSpPr>
        <p:spPr>
          <a:xfrm>
            <a:off x="3331938" y="4067090"/>
            <a:ext cx="121718" cy="6313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0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0825" tIns="100825" rIns="100825" bIns="100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43">
              <a:latin typeface="Open Sans"/>
              <a:ea typeface="Open Sans"/>
              <a:cs typeface="Open Sans"/>
            </a:endParaRPr>
          </a:p>
        </p:txBody>
      </p:sp>
      <p:pic>
        <p:nvPicPr>
          <p:cNvPr id="1026" name="Picture 2" descr="Foundry Local Meets More Silicon | Microsoft Foundry Blog">
            <a:extLst>
              <a:ext uri="{FF2B5EF4-FFF2-40B4-BE49-F238E27FC236}">
                <a16:creationId xmlns:a16="http://schemas.microsoft.com/office/drawing/2014/main" id="{D7448886-580B-7D95-88E4-2FDC42249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753" y="4170128"/>
            <a:ext cx="211267" cy="21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802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>
            <a:spLocks noGrp="1"/>
          </p:cNvSpPr>
          <p:nvPr>
            <p:ph type="title"/>
          </p:nvPr>
        </p:nvSpPr>
        <p:spPr>
          <a:xfrm>
            <a:off x="311700" y="303331"/>
            <a:ext cx="8520600" cy="5424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rPr>
              <a:t>ALL AI PRINCIPLES ARE INTEGRATED</a:t>
            </a:r>
            <a:endParaRPr b="1">
              <a:solidFill>
                <a:srgbClr val="374151"/>
              </a:solidFill>
              <a:latin typeface="Open Sans"/>
              <a:ea typeface="Open Sans"/>
              <a:cs typeface="Open Sans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>
              <a:latin typeface="Open Sans"/>
              <a:ea typeface="Open Sans"/>
              <a:cs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374151"/>
              </a:solidFill>
              <a:latin typeface="Open Sans"/>
              <a:ea typeface="Open Sans"/>
              <a:cs typeface="Open Sans"/>
              <a:sym typeface="Montserrat"/>
            </a:endParaRPr>
          </a:p>
        </p:txBody>
      </p:sp>
      <p:grpSp>
        <p:nvGrpSpPr>
          <p:cNvPr id="215" name="Google Shape;215;p20"/>
          <p:cNvGrpSpPr/>
          <p:nvPr/>
        </p:nvGrpSpPr>
        <p:grpSpPr>
          <a:xfrm>
            <a:off x="457800" y="1017616"/>
            <a:ext cx="7670273" cy="531280"/>
            <a:chOff x="1592997" y="2322561"/>
            <a:chExt cx="6401497" cy="643507"/>
          </a:xfrm>
        </p:grpSpPr>
        <p:sp>
          <p:nvSpPr>
            <p:cNvPr id="216" name="Google Shape;216;p2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 flipH="1">
              <a:off x="2186722" y="2322588"/>
              <a:ext cx="1940700" cy="6426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8" b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Fairness</a:t>
              </a:r>
              <a:endParaRPr sz="1298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1592997" y="2322561"/>
              <a:ext cx="4803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61296" dist="24519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1592997" y="2322588"/>
              <a:ext cx="611100" cy="642600"/>
            </a:xfrm>
            <a:prstGeom prst="rect">
              <a:avLst/>
            </a:prstGeom>
            <a:solidFill>
              <a:srgbClr val="2F6E9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4587693" y="2323750"/>
              <a:ext cx="3406800" cy="64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7">
                  <a:solidFill>
                    <a:srgbClr val="1A2030"/>
                  </a:solidFill>
                  <a:latin typeface="Open Sans"/>
                  <a:ea typeface="Open Sans"/>
                  <a:cs typeface="Open Sans"/>
                  <a:sym typeface="Open Sans"/>
                </a:rPr>
                <a:t>5 accessibility palettes for specific neurological needs. Varying Reading level. Multi Language detection.</a:t>
              </a:r>
              <a:endParaRPr sz="686">
                <a:solidFill>
                  <a:srgbClr val="0C57D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23" name="Google Shape;223;p20"/>
          <p:cNvGrpSpPr/>
          <p:nvPr/>
        </p:nvGrpSpPr>
        <p:grpSpPr>
          <a:xfrm>
            <a:off x="457812" y="1548904"/>
            <a:ext cx="7949206" cy="531280"/>
            <a:chOff x="1592997" y="2322561"/>
            <a:chExt cx="6634290" cy="643507"/>
          </a:xfrm>
        </p:grpSpPr>
        <p:sp>
          <p:nvSpPr>
            <p:cNvPr id="224" name="Google Shape;224;p2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 flipH="1">
              <a:off x="2186722" y="2322588"/>
              <a:ext cx="1940700" cy="6426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8" b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Reliability &amp; Safety</a:t>
              </a:r>
              <a:endParaRPr sz="1298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1592997" y="2322561"/>
              <a:ext cx="4803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61296" dist="24519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1592997" y="2322588"/>
              <a:ext cx="611100" cy="642600"/>
            </a:xfrm>
            <a:prstGeom prst="rect">
              <a:avLst/>
            </a:prstGeom>
            <a:solidFill>
              <a:srgbClr val="2F6E9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4587686" y="2323737"/>
              <a:ext cx="3639600" cy="64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7">
                  <a:solidFill>
                    <a:srgbClr val="1A2030"/>
                  </a:solidFill>
                  <a:latin typeface="Open Sans"/>
                  <a:ea typeface="Open Sans"/>
                  <a:cs typeface="Open Sans"/>
                  <a:sym typeface="Open Sans"/>
                </a:rPr>
                <a:t>Crisis and medical responses are enforced in Python. Strict schema validation and XSS output sanitization. Automated fallback and rate-limiting to prevent abuse</a:t>
              </a:r>
              <a:endParaRPr sz="686">
                <a:solidFill>
                  <a:srgbClr val="0C57D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1" name="Google Shape;231;p20"/>
          <p:cNvGrpSpPr/>
          <p:nvPr/>
        </p:nvGrpSpPr>
        <p:grpSpPr>
          <a:xfrm>
            <a:off x="457812" y="2070762"/>
            <a:ext cx="7670271" cy="531280"/>
            <a:chOff x="1592997" y="2322561"/>
            <a:chExt cx="6401496" cy="643507"/>
          </a:xfrm>
        </p:grpSpPr>
        <p:sp>
          <p:nvSpPr>
            <p:cNvPr id="232" name="Google Shape;232;p2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 flipH="1">
              <a:off x="2186722" y="2322588"/>
              <a:ext cx="1940700" cy="6426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4" name="Google Shape;234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8" b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Privacy &amp; Security</a:t>
              </a:r>
              <a:endParaRPr sz="1298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1592997" y="2322561"/>
              <a:ext cx="4803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61296" dist="24519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1592997" y="2322588"/>
              <a:ext cx="611100" cy="642600"/>
            </a:xfrm>
            <a:prstGeom prst="rect">
              <a:avLst/>
            </a:prstGeom>
            <a:solidFill>
              <a:srgbClr val="2F6E9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4587693" y="2323750"/>
              <a:ext cx="3406800" cy="64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7">
                  <a:solidFill>
                    <a:srgbClr val="1A2030"/>
                  </a:solidFill>
                  <a:latin typeface="Open Sans"/>
                  <a:ea typeface="Open Sans"/>
                  <a:cs typeface="Open Sans"/>
                  <a:sym typeface="Open Sans"/>
                </a:rPr>
                <a:t>No message content stored. Anonymous session ID. No accounts, no tracking. No PII.</a:t>
              </a:r>
              <a:endParaRPr sz="927">
                <a:solidFill>
                  <a:srgbClr val="1A203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>
            <a:off x="457812" y="2592619"/>
            <a:ext cx="7670271" cy="531280"/>
            <a:chOff x="1592997" y="2322561"/>
            <a:chExt cx="6401496" cy="643507"/>
          </a:xfrm>
        </p:grpSpPr>
        <p:sp>
          <p:nvSpPr>
            <p:cNvPr id="240" name="Google Shape;240;p2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 flipH="1">
              <a:off x="2186722" y="2322588"/>
              <a:ext cx="1940700" cy="6426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8" b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Inclusiveness</a:t>
              </a:r>
              <a:endParaRPr sz="1298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1592997" y="2322561"/>
              <a:ext cx="4803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61296" dist="24519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1592997" y="2322588"/>
              <a:ext cx="611100" cy="642600"/>
            </a:xfrm>
            <a:prstGeom prst="rect">
              <a:avLst/>
            </a:prstGeom>
            <a:solidFill>
              <a:srgbClr val="2F6E9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4587693" y="2323750"/>
              <a:ext cx="3406800" cy="64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7">
                  <a:solidFill>
                    <a:srgbClr val="1A2030"/>
                  </a:solidFill>
                  <a:latin typeface="Open Sans"/>
                  <a:ea typeface="Open Sans"/>
                  <a:cs typeface="Open Sans"/>
                  <a:sym typeface="Open Sans"/>
                </a:rPr>
                <a:t>Plain language. Built for various users (elderly, neurodivergent, non-English speakers).</a:t>
              </a:r>
              <a:endParaRPr sz="927">
                <a:solidFill>
                  <a:srgbClr val="1A203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47" name="Google Shape;247;p20"/>
          <p:cNvGrpSpPr/>
          <p:nvPr/>
        </p:nvGrpSpPr>
        <p:grpSpPr>
          <a:xfrm>
            <a:off x="457812" y="3645781"/>
            <a:ext cx="7670266" cy="531280"/>
            <a:chOff x="1592997" y="2322561"/>
            <a:chExt cx="6401491" cy="643507"/>
          </a:xfrm>
        </p:grpSpPr>
        <p:sp>
          <p:nvSpPr>
            <p:cNvPr id="248" name="Google Shape;248;p20"/>
            <p:cNvSpPr/>
            <p:nvPr/>
          </p:nvSpPr>
          <p:spPr>
            <a:xfrm>
              <a:off x="4171888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 flipH="1">
              <a:off x="2186722" y="2322588"/>
              <a:ext cx="1940700" cy="6426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8" b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Accountability</a:t>
              </a:r>
              <a:endParaRPr sz="1298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1592997" y="2322561"/>
              <a:ext cx="4803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61296" dist="24519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1592997" y="2322588"/>
              <a:ext cx="611100" cy="642600"/>
            </a:xfrm>
            <a:prstGeom prst="rect">
              <a:avLst/>
            </a:prstGeom>
            <a:solidFill>
              <a:srgbClr val="2F6E9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4587693" y="2323750"/>
              <a:ext cx="3357900" cy="64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>
                <a:lnSpc>
                  <a:spcPct val="114999"/>
                </a:lnSpc>
              </a:pPr>
              <a:r>
                <a:rPr lang="en" sz="900">
                  <a:solidFill>
                    <a:srgbClr val="1A2030"/>
                  </a:solidFill>
                  <a:latin typeface="Open Sans"/>
                  <a:ea typeface="Open Sans"/>
                  <a:cs typeface="Open Sans"/>
                </a:rPr>
                <a:t>All actions are auditable. Every analysis, flag, and AI decision is logged to Azure Blob Storage for traceability and responsible review.</a:t>
              </a:r>
              <a:endParaRPr lang="en-US">
                <a:latin typeface="Open Sans"/>
                <a:ea typeface="Open Sans"/>
                <a:cs typeface="Open Sans"/>
              </a:endParaRPr>
            </a:p>
          </p:txBody>
        </p:sp>
      </p:grpSp>
      <p:grpSp>
        <p:nvGrpSpPr>
          <p:cNvPr id="255" name="Google Shape;255;p20"/>
          <p:cNvGrpSpPr/>
          <p:nvPr/>
        </p:nvGrpSpPr>
        <p:grpSpPr>
          <a:xfrm>
            <a:off x="475449" y="4327044"/>
            <a:ext cx="7670268" cy="531280"/>
            <a:chOff x="1592997" y="2322561"/>
            <a:chExt cx="6401492" cy="643507"/>
          </a:xfrm>
        </p:grpSpPr>
        <p:sp>
          <p:nvSpPr>
            <p:cNvPr id="256" name="Google Shape;256;p20"/>
            <p:cNvSpPr/>
            <p:nvPr/>
          </p:nvSpPr>
          <p:spPr>
            <a:xfrm>
              <a:off x="4171888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 flipH="1">
              <a:off x="2186722" y="2322588"/>
              <a:ext cx="1940700" cy="642600"/>
            </a:xfrm>
            <a:prstGeom prst="rect">
              <a:avLst/>
            </a:prstGeom>
            <a:solidFill>
              <a:srgbClr val="B4A7D6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B4A7D6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B4A7D6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8" b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Human Oversight</a:t>
              </a:r>
              <a:endParaRPr sz="1298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1592997" y="2322561"/>
              <a:ext cx="4803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61296" dist="24519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592997" y="2322588"/>
              <a:ext cx="611100" cy="6426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4587693" y="2323750"/>
              <a:ext cx="3357900" cy="64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7">
                  <a:solidFill>
                    <a:srgbClr val="1A2030"/>
                  </a:solidFill>
                  <a:latin typeface="Open Sans"/>
                  <a:ea typeface="Open Sans"/>
                  <a:cs typeface="Open Sans"/>
                  <a:sym typeface="Open Sans"/>
                </a:rPr>
                <a:t>Medical and legal content defers to real professional. Features hardcoded crisis routing (988). User controls every transition, step engine never auto- advance.</a:t>
              </a:r>
              <a:endParaRPr sz="927">
                <a:solidFill>
                  <a:srgbClr val="1A203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457812" y="3114477"/>
            <a:ext cx="7611679" cy="531280"/>
            <a:chOff x="1592997" y="2322561"/>
            <a:chExt cx="6352596" cy="643507"/>
          </a:xfrm>
        </p:grpSpPr>
        <p:sp>
          <p:nvSpPr>
            <p:cNvPr id="264" name="Google Shape;264;p2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 flipH="1">
              <a:off x="2186722" y="2322588"/>
              <a:ext cx="1940700" cy="6426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2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3DA0CB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8" b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Transparency</a:t>
              </a:r>
              <a:endParaRPr sz="1298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1592997" y="2322561"/>
              <a:ext cx="4803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61296" dist="24519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98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1592997" y="2322588"/>
              <a:ext cx="611100" cy="642600"/>
            </a:xfrm>
            <a:prstGeom prst="rect">
              <a:avLst/>
            </a:prstGeom>
            <a:solidFill>
              <a:srgbClr val="2F6E9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4587693" y="2323750"/>
              <a:ext cx="3357900" cy="64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78450" tIns="78450" rIns="78450" bIns="784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7">
                  <a:solidFill>
                    <a:srgbClr val="1A2030"/>
                  </a:solidFill>
                  <a:latin typeface="Open Sans"/>
                  <a:ea typeface="Open Sans"/>
                  <a:cs typeface="Open Sans"/>
                  <a:sym typeface="Open Sans"/>
                </a:rPr>
                <a:t>'Why this result?' panel for every output. Persistent AI disclaimer and fallback indicator unavailable Ai services. Automated deference to the original document for medical content.</a:t>
              </a:r>
              <a:endParaRPr sz="927">
                <a:solidFill>
                  <a:srgbClr val="1A203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>
            <a:spLocks noGrp="1"/>
          </p:cNvSpPr>
          <p:nvPr>
            <p:ph type="title"/>
          </p:nvPr>
        </p:nvSpPr>
        <p:spPr>
          <a:xfrm>
            <a:off x="311700" y="378901"/>
            <a:ext cx="8520600" cy="4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Calibri"/>
              </a:rPr>
              <a:t>ACCESSIBLE DESIGN IS THE PRODUCT</a:t>
            </a:r>
            <a:endParaRPr>
              <a:latin typeface="Open Sans"/>
              <a:ea typeface="Open Sans"/>
              <a:cs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374151"/>
              </a:solidFill>
              <a:latin typeface="Open Sans"/>
              <a:ea typeface="Open Sans"/>
              <a:cs typeface="Open Sans"/>
              <a:sym typeface="Montserrat"/>
            </a:endParaRPr>
          </a:p>
        </p:txBody>
      </p:sp>
      <p:pic>
        <p:nvPicPr>
          <p:cNvPr id="276" name="Google Shape;2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600" y="1335100"/>
            <a:ext cx="7380173" cy="168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77" name="Google Shape;277;p21"/>
          <p:cNvSpPr txBox="1"/>
          <p:nvPr/>
        </p:nvSpPr>
        <p:spPr>
          <a:xfrm>
            <a:off x="324876" y="907409"/>
            <a:ext cx="8249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200">
                <a:solidFill>
                  <a:srgbClr val="7C8C95"/>
                </a:solidFill>
                <a:latin typeface="Open Sans"/>
                <a:ea typeface="Open Sans"/>
                <a:cs typeface="Open Sans"/>
                <a:sym typeface="Open Sans"/>
              </a:rPr>
              <a:t>Five neuro-inclusive palettes engineered for cognitive ease and covering safe, caution, danger and medical states</a:t>
            </a:r>
            <a:endParaRPr lang="en-US" sz="1200">
              <a:solidFill>
                <a:srgbClr val="7C8C9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78" name="Google Shape;278;p21"/>
          <p:cNvGrpSpPr/>
          <p:nvPr/>
        </p:nvGrpSpPr>
        <p:grpSpPr>
          <a:xfrm>
            <a:off x="1248976" y="3233125"/>
            <a:ext cx="6538772" cy="1337927"/>
            <a:chOff x="2125947" y="3339137"/>
            <a:chExt cx="2662800" cy="2121000"/>
          </a:xfrm>
        </p:grpSpPr>
        <p:sp>
          <p:nvSpPr>
            <p:cNvPr id="279" name="Google Shape;279;p21"/>
            <p:cNvSpPr/>
            <p:nvPr/>
          </p:nvSpPr>
          <p:spPr>
            <a:xfrm>
              <a:off x="2131496" y="3339137"/>
              <a:ext cx="2651700" cy="2121000"/>
            </a:xfrm>
            <a:prstGeom prst="rect">
              <a:avLst/>
            </a:prstGeom>
            <a:solidFill>
              <a:srgbClr val="204356"/>
            </a:solidFill>
            <a:ln w="9525" cap="flat" cmpd="sng">
              <a:solidFill>
                <a:srgbClr val="F0F6FC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2125947" y="3561279"/>
              <a:ext cx="2662800" cy="167670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</a:endParaRPr>
            </a:p>
          </p:txBody>
        </p:sp>
      </p:grpSp>
      <p:sp>
        <p:nvSpPr>
          <p:cNvPr id="281" name="Google Shape;281;p21"/>
          <p:cNvSpPr txBox="1"/>
          <p:nvPr/>
        </p:nvSpPr>
        <p:spPr>
          <a:xfrm>
            <a:off x="2952873" y="3365826"/>
            <a:ext cx="3212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Montserrat"/>
              </a:rPr>
              <a:t>Adaptive Reading Level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Montserrat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1270518" y="3700143"/>
            <a:ext cx="65388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tri-level toggle (Small/Normal/Large) that dynamically adjusts font size, line height, and AI output density. Preferences persist across sessions via Cosmos DB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753285B9-3EC8-6F82-7E94-CC4CB6CC2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47" r="61142" b="-1"/>
          <a:stretch>
            <a:fillRect/>
          </a:stretch>
        </p:blipFill>
        <p:spPr>
          <a:xfrm>
            <a:off x="147548" y="127839"/>
            <a:ext cx="2846163" cy="488782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37DF66C-F2C8-799C-DB96-B779241582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620" b="-3"/>
          <a:stretch>
            <a:fillRect/>
          </a:stretch>
        </p:blipFill>
        <p:spPr>
          <a:xfrm>
            <a:off x="3138105" y="124028"/>
            <a:ext cx="2870034" cy="238240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CE2EFF0-7244-D27B-E4A0-BD1BCC717B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7845" b="4"/>
          <a:stretch>
            <a:fillRect/>
          </a:stretch>
        </p:blipFill>
        <p:spPr>
          <a:xfrm>
            <a:off x="6145494" y="119932"/>
            <a:ext cx="2870033" cy="238647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EBA5FEB-68B9-F649-08FC-6CB810644E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8292" b="-2"/>
          <a:stretch>
            <a:fillRect/>
          </a:stretch>
        </p:blipFill>
        <p:spPr>
          <a:xfrm>
            <a:off x="3138105" y="2634175"/>
            <a:ext cx="2870034" cy="238148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957453B-26BD-612D-F99C-F9C1BDE58D7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7831" b="-4"/>
          <a:stretch>
            <a:fillRect/>
          </a:stretch>
        </p:blipFill>
        <p:spPr>
          <a:xfrm>
            <a:off x="6145494" y="2629474"/>
            <a:ext cx="2870033" cy="238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19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3" title="undraw_counting-stars_1fur.png"/>
          <p:cNvPicPr preferRelativeResize="0"/>
          <p:nvPr/>
        </p:nvPicPr>
        <p:blipFill rotWithShape="1">
          <a:blip r:embed="rId3">
            <a:alphaModFix/>
          </a:blip>
          <a:srcRect l="56783" t="47295" r="18448" b="5126"/>
          <a:stretch>
            <a:fillRect/>
          </a:stretch>
        </p:blipFill>
        <p:spPr>
          <a:xfrm>
            <a:off x="6982190" y="2385984"/>
            <a:ext cx="2160572" cy="274301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Montserrat"/>
              </a:rPr>
              <a:t>OUR APPROACH TO THE PROBLEM</a:t>
            </a:r>
            <a:endParaRPr b="1">
              <a:solidFill>
                <a:srgbClr val="204356"/>
              </a:solidFill>
              <a:latin typeface="Open Sans"/>
              <a:ea typeface="Open Sans"/>
              <a:cs typeface="Open Sans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96" name="Google Shape;296;p23"/>
          <p:cNvGrpSpPr/>
          <p:nvPr/>
        </p:nvGrpSpPr>
        <p:grpSpPr>
          <a:xfrm>
            <a:off x="398924" y="1134121"/>
            <a:ext cx="1289601" cy="1469164"/>
            <a:chOff x="427825" y="1529575"/>
            <a:chExt cx="1598400" cy="1870800"/>
          </a:xfrm>
        </p:grpSpPr>
        <p:sp>
          <p:nvSpPr>
            <p:cNvPr id="297" name="Google Shape;297;p23"/>
            <p:cNvSpPr/>
            <p:nvPr/>
          </p:nvSpPr>
          <p:spPr>
            <a:xfrm>
              <a:off x="427825" y="1529575"/>
              <a:ext cx="1598400" cy="1870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69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1814" dist="13938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6875" tIns="66875" rIns="66875" bIns="66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24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516303" y="1714245"/>
              <a:ext cx="290286" cy="450718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6975" cap="flat" cmpd="sng">
                    <a:solidFill>
                      <a:srgbClr val="20435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solidFill>
                    <a:srgbClr val="204356"/>
                  </a:solidFill>
                  <a:latin typeface="Open Sans"/>
                  <a:ea typeface="Open Sans"/>
                  <a:cs typeface="Open Sans"/>
                </a:rPr>
                <a:t>1</a:t>
              </a:r>
            </a:p>
          </p:txBody>
        </p:sp>
        <p:sp>
          <p:nvSpPr>
            <p:cNvPr id="299" name="Google Shape;299;p23"/>
            <p:cNvSpPr txBox="1"/>
            <p:nvPr/>
          </p:nvSpPr>
          <p:spPr>
            <a:xfrm>
              <a:off x="874764" y="1673282"/>
              <a:ext cx="10986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75" tIns="66875" rIns="66875" bIns="668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7" b="1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Start with the person not the problem</a:t>
              </a:r>
              <a:endParaRPr sz="877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0" name="Google Shape;300;p23"/>
            <p:cNvSpPr txBox="1"/>
            <p:nvPr/>
          </p:nvSpPr>
          <p:spPr>
            <a:xfrm>
              <a:off x="531454" y="2320434"/>
              <a:ext cx="14946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75" tIns="66875" rIns="66875" bIns="668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7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What does it feel like to receive a frightening message when your brain processes anxiety differently?</a:t>
              </a:r>
              <a:endParaRPr sz="877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01" name="Google Shape;301;p23"/>
          <p:cNvGrpSpPr/>
          <p:nvPr/>
        </p:nvGrpSpPr>
        <p:grpSpPr>
          <a:xfrm>
            <a:off x="1788478" y="2531085"/>
            <a:ext cx="1278194" cy="1469164"/>
            <a:chOff x="2124011" y="1558143"/>
            <a:chExt cx="1598400" cy="1870800"/>
          </a:xfrm>
        </p:grpSpPr>
        <p:sp>
          <p:nvSpPr>
            <p:cNvPr id="302" name="Google Shape;302;p23"/>
            <p:cNvSpPr/>
            <p:nvPr/>
          </p:nvSpPr>
          <p:spPr>
            <a:xfrm>
              <a:off x="2124011" y="1558143"/>
              <a:ext cx="1598400" cy="1870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69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1814" dist="13938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6875" tIns="66875" rIns="66875" bIns="66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24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2197339" y="1720088"/>
              <a:ext cx="358461" cy="450719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6975" cap="flat" cmpd="sng">
                    <a:solidFill>
                      <a:srgbClr val="20435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solidFill>
                    <a:srgbClr val="204356"/>
                  </a:solidFill>
                  <a:latin typeface="Open Sans"/>
                  <a:ea typeface="Open Sans"/>
                  <a:cs typeface="Open Sans"/>
                </a:rPr>
                <a:t>2</a:t>
              </a:r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2570950" y="1701850"/>
              <a:ext cx="10986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75" tIns="66875" rIns="66875" bIns="668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7" b="1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Ask about experience, not diagnosis</a:t>
              </a:r>
              <a:endParaRPr sz="877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2227640" y="2349003"/>
              <a:ext cx="14946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75" tIns="66875" rIns="66875" bIns="668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7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UI adapts to how you process information, not how you are diagnosed</a:t>
              </a:r>
              <a:endParaRPr sz="877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06" name="Google Shape;306;p23"/>
          <p:cNvSpPr/>
          <p:nvPr/>
        </p:nvSpPr>
        <p:spPr>
          <a:xfrm>
            <a:off x="5916525" y="1091927"/>
            <a:ext cx="1341860" cy="164528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69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1813" dist="13938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66900" tIns="66900" rIns="66900" bIns="66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24">
              <a:latin typeface="Open Sans"/>
              <a:ea typeface="Open Sans"/>
              <a:cs typeface="Open Sans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6021020" y="1242479"/>
            <a:ext cx="320425" cy="41901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6975" cap="flat" cmpd="sng">
                  <a:solidFill>
                    <a:srgbClr val="204356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204356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308" name="Google Shape;308;p23"/>
          <p:cNvSpPr txBox="1"/>
          <p:nvPr/>
        </p:nvSpPr>
        <p:spPr>
          <a:xfrm>
            <a:off x="6356732" y="1194953"/>
            <a:ext cx="888427" cy="47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900" tIns="66900" rIns="66900" bIns="66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77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rPr>
              <a:t>Design for Failure and Safety</a:t>
            </a:r>
            <a:endParaRPr sz="877" b="1">
              <a:solidFill>
                <a:srgbClr val="20435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09" name="Google Shape;309;p23"/>
          <p:cNvGrpSpPr/>
          <p:nvPr/>
        </p:nvGrpSpPr>
        <p:grpSpPr>
          <a:xfrm>
            <a:off x="3117679" y="1126706"/>
            <a:ext cx="1278194" cy="1474938"/>
            <a:chOff x="3828466" y="1558143"/>
            <a:chExt cx="1598400" cy="1870800"/>
          </a:xfrm>
        </p:grpSpPr>
        <p:sp>
          <p:nvSpPr>
            <p:cNvPr id="310" name="Google Shape;310;p23"/>
            <p:cNvSpPr/>
            <p:nvPr/>
          </p:nvSpPr>
          <p:spPr>
            <a:xfrm>
              <a:off x="3828466" y="1558143"/>
              <a:ext cx="1598400" cy="1870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69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1814" dist="13938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6875" tIns="66875" rIns="66875" bIns="66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24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3940870" y="1720088"/>
              <a:ext cx="358461" cy="45694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6975" cap="flat" cmpd="sng">
                    <a:solidFill>
                      <a:srgbClr val="20435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solidFill>
                    <a:srgbClr val="204356"/>
                  </a:solidFill>
                  <a:latin typeface="Open Sans"/>
                  <a:ea typeface="Open Sans"/>
                  <a:cs typeface="Open Sans"/>
                </a:rPr>
                <a:t>3</a:t>
              </a:r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4314480" y="1701850"/>
              <a:ext cx="1098600" cy="5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75" tIns="66875" rIns="66875" bIns="668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Calm language is a technical requirement</a:t>
              </a:r>
              <a:endParaRPr sz="850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3909781" y="2384296"/>
              <a:ext cx="1494599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75" tIns="66875" rIns="66875" bIns="66875" anchor="t" anchorCtr="0">
              <a:noAutofit/>
            </a:bodyPr>
            <a:lstStyle/>
            <a:p>
              <a:pPr algn="ctr"/>
              <a:r>
                <a:rPr lang="en" sz="850">
                  <a:solidFill>
                    <a:srgbClr val="204356"/>
                  </a:solidFill>
                  <a:latin typeface="Open Sans"/>
                  <a:ea typeface="Open Sans"/>
                  <a:cs typeface="Open Sans"/>
                </a:rPr>
                <a:t>Tone of AI output is treated as a critical component of the design</a:t>
              </a:r>
            </a:p>
          </p:txBody>
        </p:sp>
      </p:grpSp>
      <p:grpSp>
        <p:nvGrpSpPr>
          <p:cNvPr id="314" name="Google Shape;314;p23"/>
          <p:cNvGrpSpPr/>
          <p:nvPr/>
        </p:nvGrpSpPr>
        <p:grpSpPr>
          <a:xfrm>
            <a:off x="4469895" y="2517833"/>
            <a:ext cx="1278194" cy="1469166"/>
            <a:chOff x="5534278" y="1564458"/>
            <a:chExt cx="1598400" cy="1870800"/>
          </a:xfrm>
        </p:grpSpPr>
        <p:sp>
          <p:nvSpPr>
            <p:cNvPr id="315" name="Google Shape;315;p23"/>
            <p:cNvSpPr/>
            <p:nvPr/>
          </p:nvSpPr>
          <p:spPr>
            <a:xfrm>
              <a:off x="5534278" y="1564458"/>
              <a:ext cx="1598400" cy="1870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69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1814" dist="13938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66875" tIns="66875" rIns="66875" bIns="66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24">
                <a:latin typeface="Open Sans"/>
                <a:ea typeface="Open Sans"/>
                <a:cs typeface="Open Sans"/>
              </a:endParaRPr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5646681" y="1726403"/>
              <a:ext cx="406715" cy="446984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lvl="0" algn="ctr"/>
              <a:r>
                <a:rPr b="0" i="0">
                  <a:ln w="6975" cap="flat" cmpd="sng">
                    <a:solidFill>
                      <a:srgbClr val="20435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solidFill>
                    <a:srgbClr val="204356"/>
                  </a:solidFill>
                  <a:latin typeface="Open Sans"/>
                  <a:ea typeface="Open Sans"/>
                  <a:cs typeface="Open Sans"/>
                </a:rPr>
                <a:t>4</a:t>
              </a:r>
            </a:p>
          </p:txBody>
        </p:sp>
        <p:sp>
          <p:nvSpPr>
            <p:cNvPr id="317" name="Google Shape;317;p23"/>
            <p:cNvSpPr txBox="1"/>
            <p:nvPr/>
          </p:nvSpPr>
          <p:spPr>
            <a:xfrm>
              <a:off x="6053401" y="1616216"/>
              <a:ext cx="1065600" cy="63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75" tIns="66875" rIns="66875" bIns="668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7" b="1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Explainability reduces anxiety and create trust.</a:t>
              </a:r>
              <a:endParaRPr sz="877" b="1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8" name="Google Shape;318;p23"/>
            <p:cNvSpPr txBox="1"/>
            <p:nvPr/>
          </p:nvSpPr>
          <p:spPr>
            <a:xfrm>
              <a:off x="5589087" y="2384294"/>
              <a:ext cx="1494599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6875" tIns="66875" rIns="66875" bIns="668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7">
                  <a:solidFill>
                    <a:srgbClr val="204356"/>
                  </a:solidFill>
                  <a:latin typeface="Open Sans"/>
                  <a:ea typeface="Open Sans"/>
                  <a:cs typeface="Open Sans"/>
                  <a:sym typeface="Open Sans"/>
                </a:rPr>
                <a:t>Showing the “why” behind every model output to empower the user</a:t>
              </a:r>
              <a:endParaRPr sz="877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19" name="Google Shape;319;p23"/>
          <p:cNvSpPr txBox="1"/>
          <p:nvPr/>
        </p:nvSpPr>
        <p:spPr>
          <a:xfrm>
            <a:off x="5988752" y="1813072"/>
            <a:ext cx="1256828" cy="687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900" tIns="66900" rIns="66900" bIns="66900" anchor="t" anchorCtr="0">
            <a:noAutofit/>
          </a:bodyPr>
          <a:lstStyle/>
          <a:p>
            <a:pPr algn="ctr"/>
            <a:r>
              <a:rPr lang="en-US" sz="850">
                <a:solidFill>
                  <a:srgbClr val="204356"/>
                </a:solidFill>
                <a:latin typeface="Open Sans"/>
                <a:ea typeface="Open Sans"/>
                <a:cs typeface="Open Sans"/>
                <a:sym typeface="Open Sans"/>
              </a:rPr>
              <a:t>Graceful error states, fallback flows, and transparent limitations, so users stay informed, not abandoned.</a:t>
            </a:r>
            <a:endParaRPr sz="850">
              <a:solidFill>
                <a:srgbClr val="20435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Montserrat"/>
              </a:rPr>
              <a:t>KEY LEARNINGS</a:t>
            </a:r>
            <a:endParaRPr b="1">
              <a:solidFill>
                <a:srgbClr val="374151"/>
              </a:solidFill>
              <a:latin typeface="Open Sans"/>
              <a:ea typeface="Open Sans"/>
              <a:cs typeface="Open Sans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</a:endParaRPr>
          </a:p>
        </p:txBody>
      </p:sp>
      <p:grpSp>
        <p:nvGrpSpPr>
          <p:cNvPr id="325" name="Google Shape;325;p24"/>
          <p:cNvGrpSpPr/>
          <p:nvPr/>
        </p:nvGrpSpPr>
        <p:grpSpPr>
          <a:xfrm>
            <a:off x="435706" y="1798326"/>
            <a:ext cx="8024774" cy="675359"/>
            <a:chOff x="870574" y="1279334"/>
            <a:chExt cx="7315200" cy="442800"/>
          </a:xfrm>
        </p:grpSpPr>
        <p:sp>
          <p:nvSpPr>
            <p:cNvPr id="326" name="Google Shape;326;p24"/>
            <p:cNvSpPr txBox="1"/>
            <p:nvPr/>
          </p:nvSpPr>
          <p:spPr>
            <a:xfrm>
              <a:off x="870574" y="1279334"/>
              <a:ext cx="7315200" cy="442800"/>
            </a:xfrm>
            <a:prstGeom prst="rect">
              <a:avLst/>
            </a:prstGeom>
            <a:noFill/>
            <a:ln w="9525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A4C2F4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7" name="Google Shape;327;p24"/>
            <p:cNvSpPr txBox="1"/>
            <p:nvPr/>
          </p:nvSpPr>
          <p:spPr>
            <a:xfrm>
              <a:off x="1034178" y="1333315"/>
              <a:ext cx="16779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Open Sans"/>
                </a:rPr>
                <a:t>Accessibility First is Universal Design</a:t>
              </a:r>
              <a:endParaRPr sz="1200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8" name="Google Shape;328;p24"/>
            <p:cNvSpPr txBox="1"/>
            <p:nvPr/>
          </p:nvSpPr>
          <p:spPr>
            <a:xfrm>
              <a:off x="2817247" y="1327902"/>
              <a:ext cx="5243400" cy="3369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00">
                  <a:solidFill>
                    <a:srgbClr val="1A2030"/>
                  </a:solidFill>
                  <a:latin typeface="Open Sans"/>
                  <a:ea typeface="Open Sans"/>
                  <a:cs typeface="Open Sans"/>
                  <a:sym typeface="Open Sans"/>
                </a:rPr>
                <a:t>Solving for cognitive overload by designing a simple, intuitive experience that empowers neurodivergent users and reduces complexity.</a:t>
              </a:r>
              <a:endPara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29" name="Google Shape;329;p24"/>
          <p:cNvGrpSpPr/>
          <p:nvPr/>
        </p:nvGrpSpPr>
        <p:grpSpPr>
          <a:xfrm>
            <a:off x="436826" y="3166110"/>
            <a:ext cx="8024774" cy="675359"/>
            <a:chOff x="870574" y="1279334"/>
            <a:chExt cx="7315200" cy="442800"/>
          </a:xfrm>
        </p:grpSpPr>
        <p:sp>
          <p:nvSpPr>
            <p:cNvPr id="330" name="Google Shape;330;p24"/>
            <p:cNvSpPr txBox="1"/>
            <p:nvPr/>
          </p:nvSpPr>
          <p:spPr>
            <a:xfrm>
              <a:off x="870574" y="1279334"/>
              <a:ext cx="7315200" cy="442800"/>
            </a:xfrm>
            <a:prstGeom prst="rect">
              <a:avLst/>
            </a:prstGeom>
            <a:noFill/>
            <a:ln w="9525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DA0C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1" name="Google Shape;331;p24"/>
            <p:cNvSpPr txBox="1"/>
            <p:nvPr/>
          </p:nvSpPr>
          <p:spPr>
            <a:xfrm>
              <a:off x="1043850" y="1332286"/>
              <a:ext cx="1569000" cy="3369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2F6E91"/>
                  </a:solidFill>
                  <a:latin typeface="Open Sans"/>
                  <a:ea typeface="Open Sans"/>
                  <a:cs typeface="Open Sans"/>
                  <a:sym typeface="Open Sans"/>
                </a:rPr>
                <a:t>Ethics as a Pipeline</a:t>
              </a:r>
              <a:endParaRPr sz="1200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2" name="Google Shape;332;p24"/>
            <p:cNvSpPr txBox="1"/>
            <p:nvPr/>
          </p:nvSpPr>
          <p:spPr>
            <a:xfrm>
              <a:off x="2800245" y="1327908"/>
              <a:ext cx="5260500" cy="336900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A2030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Integrated all six Responsible AI Principles (Fairness, Reliability, Privacy, Inclusiveness, Transparency, Accountability) directly into the engineering workflow.</a:t>
              </a:r>
              <a:endParaRPr sz="1000">
                <a:solidFill>
                  <a:srgbClr val="1A203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33" name="Google Shape;333;p24"/>
          <p:cNvGrpSpPr/>
          <p:nvPr/>
        </p:nvGrpSpPr>
        <p:grpSpPr>
          <a:xfrm>
            <a:off x="428025" y="1119788"/>
            <a:ext cx="8024774" cy="675359"/>
            <a:chOff x="870574" y="1279334"/>
            <a:chExt cx="7315200" cy="442800"/>
          </a:xfrm>
        </p:grpSpPr>
        <p:sp>
          <p:nvSpPr>
            <p:cNvPr id="334" name="Google Shape;334;p24"/>
            <p:cNvSpPr txBox="1"/>
            <p:nvPr/>
          </p:nvSpPr>
          <p:spPr>
            <a:xfrm>
              <a:off x="870574" y="1279334"/>
              <a:ext cx="7315200" cy="442800"/>
            </a:xfrm>
            <a:prstGeom prst="rect">
              <a:avLst/>
            </a:prstGeom>
            <a:solidFill>
              <a:srgbClr val="2F6E9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A4C2F4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5" name="Google Shape;335;p24"/>
            <p:cNvSpPr txBox="1"/>
            <p:nvPr/>
          </p:nvSpPr>
          <p:spPr>
            <a:xfrm>
              <a:off x="1043863" y="1327900"/>
              <a:ext cx="16770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Labeling without action is Incomplete</a:t>
              </a:r>
              <a:endParaRPr sz="1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6" name="Google Shape;336;p24"/>
            <p:cNvSpPr txBox="1"/>
            <p:nvPr/>
          </p:nvSpPr>
          <p:spPr>
            <a:xfrm>
              <a:off x="2826019" y="1327902"/>
              <a:ext cx="5234700" cy="3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A  "High Risk" label  without a next step increases anxiety. </a:t>
              </a:r>
              <a:r>
                <a:rPr lang="en" sz="1000" err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ClearStep</a:t>
              </a:r>
              <a:r>
                <a:rPr lang="en" sz="10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 provides "Action-First" steps to eliminate decision paralysis</a:t>
              </a:r>
              <a:endParaRPr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37" name="Google Shape;337;p24"/>
          <p:cNvGrpSpPr/>
          <p:nvPr/>
        </p:nvGrpSpPr>
        <p:grpSpPr>
          <a:xfrm>
            <a:off x="428027" y="2476845"/>
            <a:ext cx="8024774" cy="678516"/>
            <a:chOff x="870574" y="1277264"/>
            <a:chExt cx="7315200" cy="444870"/>
          </a:xfrm>
        </p:grpSpPr>
        <p:sp>
          <p:nvSpPr>
            <p:cNvPr id="338" name="Google Shape;338;p24"/>
            <p:cNvSpPr txBox="1"/>
            <p:nvPr/>
          </p:nvSpPr>
          <p:spPr>
            <a:xfrm>
              <a:off x="870574" y="1279334"/>
              <a:ext cx="7315200" cy="442800"/>
            </a:xfrm>
            <a:prstGeom prst="rect">
              <a:avLst/>
            </a:prstGeom>
            <a:solidFill>
              <a:srgbClr val="2F6E91"/>
            </a:solidFill>
            <a:ln w="9525" cap="flat" cmpd="sng">
              <a:solidFill>
                <a:srgbClr val="3DA0CB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A4C2F4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24"/>
            <p:cNvSpPr txBox="1"/>
            <p:nvPr/>
          </p:nvSpPr>
          <p:spPr>
            <a:xfrm>
              <a:off x="1034175" y="1331218"/>
              <a:ext cx="1742100" cy="336900"/>
            </a:xfrm>
            <a:prstGeom prst="rect">
              <a:avLst/>
            </a:prstGeom>
            <a:noFill/>
            <a:ln w="9525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Fail-Safe Architecture</a:t>
              </a:r>
              <a:endParaRPr sz="1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0" name="Google Shape;340;p24"/>
            <p:cNvSpPr txBox="1"/>
            <p:nvPr/>
          </p:nvSpPr>
          <p:spPr>
            <a:xfrm>
              <a:off x="2820732" y="1277264"/>
              <a:ext cx="5240100" cy="336900"/>
            </a:xfrm>
            <a:prstGeom prst="rect">
              <a:avLst/>
            </a:prstGeom>
            <a:noFill/>
            <a:ln w="9525" cap="flat" cmpd="sng">
              <a:solidFill>
                <a:srgbClr val="2F6E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We prioritize uptime, security and system integrity by combining 'Zero-Secrets' architecture via Azure Key Vault, protecting user data with a layered Fallback (Azure → Anthropic → Local Scorer).</a:t>
              </a:r>
              <a:endParaRPr sz="1000">
                <a:solidFill>
                  <a:srgbClr val="1A203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Montserrat"/>
              </a:rPr>
              <a:t>ROADMAP</a:t>
            </a:r>
            <a:endParaRPr b="1">
              <a:solidFill>
                <a:srgbClr val="374151"/>
              </a:solidFill>
              <a:latin typeface="Open Sans"/>
              <a:ea typeface="Open Sans"/>
              <a:cs typeface="Open Sans"/>
              <a:sym typeface="Montserrat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569351" y="1145075"/>
            <a:ext cx="2038455" cy="253955"/>
          </a:xfrm>
          <a:prstGeom prst="rect">
            <a:avLst/>
          </a:prstGeom>
          <a:solidFill>
            <a:srgbClr val="204356"/>
          </a:solidFill>
          <a:ln w="10250" cap="flat" cmpd="sng">
            <a:solidFill>
              <a:srgbClr val="204356"/>
            </a:solidFill>
            <a:prstDash val="solid"/>
            <a:round/>
            <a:headEnd type="none" w="sm" len="sm"/>
            <a:tailEnd type="none" w="sm" len="sm"/>
          </a:ln>
          <a:effectLst>
            <a:outerShdw blurRad="92268" dist="51260" dir="5940000" algn="bl" rotWithShape="0">
              <a:srgbClr val="2F6E91">
                <a:alpha val="50000"/>
              </a:srgbClr>
            </a:outerShdw>
          </a:effectLst>
        </p:spPr>
        <p:txBody>
          <a:bodyPr spcFirstLastPara="1" wrap="square" lIns="98400" tIns="98400" rIns="98400" bIns="98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6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PHASE 1: HIGH PRIORITY</a:t>
            </a:r>
            <a:endParaRPr sz="1176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3170392" y="1145075"/>
            <a:ext cx="2039955" cy="253955"/>
          </a:xfrm>
          <a:prstGeom prst="rect">
            <a:avLst/>
          </a:prstGeom>
          <a:solidFill>
            <a:srgbClr val="8EC1DE"/>
          </a:solidFill>
          <a:ln w="10250" cap="flat" cmpd="sng">
            <a:solidFill>
              <a:srgbClr val="8EC1DE"/>
            </a:solidFill>
            <a:prstDash val="solid"/>
            <a:round/>
            <a:headEnd type="none" w="sm" len="sm"/>
            <a:tailEnd type="none" w="sm" len="sm"/>
          </a:ln>
          <a:effectLst>
            <a:outerShdw blurRad="92268" dist="51260" dir="5940000" algn="bl" rotWithShape="0">
              <a:srgbClr val="2F6E91">
                <a:alpha val="50000"/>
              </a:srgbClr>
            </a:outerShdw>
          </a:effectLst>
        </p:spPr>
        <p:txBody>
          <a:bodyPr spcFirstLastPara="1" wrap="square" lIns="98400" tIns="98400" rIns="98400" bIns="98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6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PHASE 2: PLANNED </a:t>
            </a:r>
            <a:endParaRPr sz="1176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5809201" y="1145075"/>
            <a:ext cx="2039955" cy="253955"/>
          </a:xfrm>
          <a:prstGeom prst="rect">
            <a:avLst/>
          </a:prstGeom>
          <a:solidFill>
            <a:srgbClr val="6D8390"/>
          </a:solidFill>
          <a:ln w="10250" cap="flat" cmpd="sng">
            <a:solidFill>
              <a:srgbClr val="6D8390"/>
            </a:solidFill>
            <a:prstDash val="solid"/>
            <a:round/>
            <a:headEnd type="none" w="sm" len="sm"/>
            <a:tailEnd type="none" w="sm" len="sm"/>
          </a:ln>
          <a:effectLst>
            <a:outerShdw blurRad="92268" dist="51260" dir="5940000" algn="bl" rotWithShape="0">
              <a:srgbClr val="2F6E91">
                <a:alpha val="50000"/>
              </a:srgbClr>
            </a:outerShdw>
          </a:effectLst>
        </p:spPr>
        <p:txBody>
          <a:bodyPr spcFirstLastPara="1" wrap="square" lIns="98400" tIns="98400" rIns="98400" bIns="98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6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PHASE 3: FUTURE</a:t>
            </a:r>
            <a:endParaRPr sz="1176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2217550" y="3710075"/>
            <a:ext cx="4521000" cy="7809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F1F6F9"/>
          </a:solidFill>
          <a:ln w="9325" cap="flat" cmpd="sng">
            <a:solidFill>
              <a:srgbClr val="204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600" tIns="89600" rIns="89600" bIns="89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2">
              <a:latin typeface="Open Sans"/>
              <a:ea typeface="Open Sans"/>
              <a:cs typeface="Open Sans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478154" y="2029700"/>
            <a:ext cx="2300210" cy="423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89600" rIns="89600" bIns="896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72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Azure Computer Vision </a:t>
            </a:r>
            <a:endParaRPr sz="1372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28233" y="2390351"/>
            <a:ext cx="2218082" cy="101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89600" rIns="89600" bIns="896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76">
                <a:solidFill>
                  <a:srgbClr val="6D8390"/>
                </a:solidFill>
                <a:latin typeface="Open Sans"/>
                <a:ea typeface="Open Sans"/>
                <a:cs typeface="Open Sans"/>
                <a:sym typeface="Open Sans"/>
              </a:rPr>
              <a:t>Finalizing OCR endpoint configuration and schema validation for vision Integration.</a:t>
            </a:r>
            <a:endParaRPr sz="1176">
              <a:solidFill>
                <a:srgbClr val="6D839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25"/>
          <p:cNvSpPr txBox="1"/>
          <p:nvPr/>
        </p:nvSpPr>
        <p:spPr>
          <a:xfrm>
            <a:off x="3118113" y="2389511"/>
            <a:ext cx="2218082" cy="101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89600" rIns="89600" bIns="896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76">
                <a:solidFill>
                  <a:srgbClr val="6D8390"/>
                </a:solidFill>
                <a:latin typeface="Open Sans"/>
                <a:ea typeface="Open Sans"/>
                <a:cs typeface="Open Sans"/>
                <a:sym typeface="Open Sans"/>
              </a:rPr>
              <a:t>Optional anonymous history log for users to revisit past analyses without account creation or tracking.</a:t>
            </a:r>
            <a:endParaRPr sz="1176">
              <a:solidFill>
                <a:srgbClr val="6D839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25"/>
          <p:cNvSpPr txBox="1"/>
          <p:nvPr/>
        </p:nvSpPr>
        <p:spPr>
          <a:xfrm>
            <a:off x="5740979" y="2380869"/>
            <a:ext cx="2218082" cy="122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89600" rIns="89600" bIns="896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76">
                <a:solidFill>
                  <a:srgbClr val="6D8390"/>
                </a:solidFill>
                <a:latin typeface="Open Sans"/>
                <a:ea typeface="Open Sans"/>
                <a:cs typeface="Open Sans"/>
                <a:sym typeface="Open Sans"/>
              </a:rPr>
              <a:t>Integrate "Is This Safe?" tool to any email client, allowing users to verify suspicious messages without leaving their inbox.</a:t>
            </a:r>
            <a:endParaRPr sz="1176">
              <a:solidFill>
                <a:srgbClr val="6D839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25"/>
          <p:cNvSpPr txBox="1"/>
          <p:nvPr/>
        </p:nvSpPr>
        <p:spPr>
          <a:xfrm>
            <a:off x="3246264" y="2027726"/>
            <a:ext cx="2038455" cy="423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89600" rIns="89600" bIns="896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72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Session History</a:t>
            </a:r>
            <a:endParaRPr sz="1372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5828877" y="2016726"/>
            <a:ext cx="2038455" cy="423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89600" rIns="89600" bIns="896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72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Browser Extension</a:t>
            </a:r>
            <a:endParaRPr sz="1372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6" name="Google Shape;356;p25" title="drag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335" y="1691433"/>
            <a:ext cx="350933" cy="31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5" title="ema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8554" y="1629354"/>
            <a:ext cx="350933" cy="31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5" title="cooki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8281" y="1677847"/>
            <a:ext cx="346932" cy="31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 txBox="1">
            <a:spLocks noGrp="1"/>
          </p:cNvSpPr>
          <p:nvPr>
            <p:ph type="ctrTitle"/>
          </p:nvPr>
        </p:nvSpPr>
        <p:spPr>
          <a:xfrm>
            <a:off x="311700" y="650010"/>
            <a:ext cx="3764100" cy="1061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Montserrat"/>
              </a:rPr>
              <a:t>Clear</a:t>
            </a:r>
            <a:r>
              <a:rPr lang="en" b="1">
                <a:solidFill>
                  <a:srgbClr val="2F6E91"/>
                </a:solidFill>
                <a:latin typeface="Open Sans"/>
                <a:ea typeface="Open Sans"/>
                <a:cs typeface="Open Sans"/>
                <a:sym typeface="Montserrat"/>
              </a:rPr>
              <a:t>Step </a:t>
            </a:r>
            <a:endParaRPr b="1">
              <a:solidFill>
                <a:srgbClr val="2F6E91"/>
              </a:solidFill>
              <a:latin typeface="Open Sans"/>
              <a:ea typeface="Open Sans"/>
              <a:cs typeface="Open Sans"/>
              <a:sym typeface="Montserrat"/>
            </a:endParaRPr>
          </a:p>
        </p:txBody>
      </p:sp>
      <p:sp>
        <p:nvSpPr>
          <p:cNvPr id="364" name="Google Shape;364;p26"/>
          <p:cNvSpPr txBox="1">
            <a:spLocks noGrp="1"/>
          </p:cNvSpPr>
          <p:nvPr>
            <p:ph type="subTitle" idx="1"/>
          </p:nvPr>
        </p:nvSpPr>
        <p:spPr>
          <a:xfrm>
            <a:off x="386198" y="1561006"/>
            <a:ext cx="6495900" cy="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C8C95"/>
                </a:solidFill>
                <a:latin typeface="Open Sans"/>
                <a:ea typeface="Open Sans"/>
                <a:cs typeface="Open Sans"/>
                <a:sym typeface="Open Sans"/>
              </a:rPr>
              <a:t>Reducing cognitive load for neurodivergent users</a:t>
            </a:r>
            <a:endParaRPr sz="1200">
              <a:solidFill>
                <a:srgbClr val="7C8C9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2102066" y="3116116"/>
            <a:ext cx="27300" cy="27300"/>
          </a:xfrm>
          <a:prstGeom prst="flowChartConnector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7122274" y="-602800"/>
            <a:ext cx="2967900" cy="2971800"/>
          </a:xfrm>
          <a:prstGeom prst="ellipse">
            <a:avLst/>
          </a:prstGeom>
          <a:solidFill>
            <a:srgbClr val="8EC1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7472770" y="-336376"/>
            <a:ext cx="2377500" cy="2377500"/>
          </a:xfrm>
          <a:prstGeom prst="ellipse">
            <a:avLst/>
          </a:prstGeom>
          <a:solidFill>
            <a:srgbClr val="2F6E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501250" y="2369003"/>
            <a:ext cx="1755600" cy="1234500"/>
          </a:xfrm>
          <a:prstGeom prst="rect">
            <a:avLst/>
          </a:prstGeom>
          <a:solidFill>
            <a:srgbClr val="204356"/>
          </a:solidFill>
          <a:ln w="9525" cap="flat" cmpd="sng">
            <a:solidFill>
              <a:srgbClr val="3741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Montserrat"/>
              </a:rPr>
              <a:t>Leishka </a:t>
            </a:r>
            <a:endParaRPr sz="1600" b="1">
              <a:solidFill>
                <a:schemeClr val="lt1"/>
              </a:solidFill>
              <a:latin typeface="Open Sans"/>
              <a:ea typeface="Open Sans"/>
              <a:cs typeface="Open Sans"/>
              <a:sym typeface="Montserrat"/>
            </a:endParaRPr>
          </a:p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Montserrat"/>
              </a:rPr>
              <a:t>Pagán</a:t>
            </a:r>
            <a:r>
              <a:rPr lang="en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Montserrat"/>
              </a:rPr>
              <a:t> </a:t>
            </a:r>
            <a:endParaRPr sz="1600">
              <a:solidFill>
                <a:schemeClr val="lt1"/>
              </a:solidFill>
              <a:latin typeface="Open Sans"/>
              <a:ea typeface="Open Sans"/>
              <a:cs typeface="Open Sans"/>
              <a:sym typeface="Montserrat"/>
            </a:endParaRPr>
          </a:p>
          <a:p>
            <a:pPr marL="0" lvl="0" indent="0" algn="ctr" rtl="0">
              <a:spcBef>
                <a:spcPts val="100"/>
              </a:spcBef>
              <a:spcAft>
                <a:spcPts val="10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Product Owner, Security Lead, Azure Engineer, Frontend Engineer, UX Director</a:t>
            </a:r>
            <a:endParaRPr sz="900">
              <a:solidFill>
                <a:srgbClr val="7C8C9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470275" y="3935250"/>
            <a:ext cx="61605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>
              <a:solidFill>
                <a:schemeClr val="hlink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>
              <a:solidFill>
                <a:schemeClr val="hlink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26"/>
          <p:cNvSpPr txBox="1"/>
          <p:nvPr/>
        </p:nvSpPr>
        <p:spPr>
          <a:xfrm>
            <a:off x="2645275" y="2368975"/>
            <a:ext cx="1810500" cy="1234500"/>
          </a:xfrm>
          <a:prstGeom prst="rect">
            <a:avLst/>
          </a:prstGeom>
          <a:solidFill>
            <a:srgbClr val="204356"/>
          </a:solidFill>
          <a:ln w="9525" cap="flat" cmpd="sng">
            <a:solidFill>
              <a:srgbClr val="3741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Montserrat"/>
              </a:rPr>
              <a:t>Joanne Obodoagwu</a:t>
            </a:r>
            <a:endParaRPr sz="16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Montserrat"/>
            </a:endParaRPr>
          </a:p>
          <a:p>
            <a:pPr algn="ctr">
              <a:spcBef>
                <a:spcPts val="100"/>
              </a:spcBef>
            </a:pPr>
            <a:endParaRPr lang="en" sz="9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spcBef>
                <a:spcPts val="100"/>
              </a:spcBef>
            </a:pPr>
            <a:r>
              <a:rPr lang="en" sz="9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Cloud/DevOps Engineer</a:t>
            </a:r>
            <a:endParaRPr lang="en" sz="900" dirty="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"/>
              </a:spcBef>
              <a:spcAft>
                <a:spcPts val="100"/>
              </a:spcAft>
              <a:buNone/>
            </a:pPr>
            <a:endParaRPr sz="1200" dirty="0">
              <a:solidFill>
                <a:srgbClr val="7C8C9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26"/>
          <p:cNvSpPr txBox="1"/>
          <p:nvPr/>
        </p:nvSpPr>
        <p:spPr>
          <a:xfrm>
            <a:off x="4717125" y="2369050"/>
            <a:ext cx="1773900" cy="1234500"/>
          </a:xfrm>
          <a:prstGeom prst="rect">
            <a:avLst/>
          </a:prstGeom>
          <a:solidFill>
            <a:srgbClr val="204356"/>
          </a:solidFill>
          <a:ln w="9525" cap="flat" cmpd="sng">
            <a:solidFill>
              <a:srgbClr val="3741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Montserrat"/>
              </a:rPr>
              <a:t>Fatima </a:t>
            </a:r>
            <a:endParaRPr sz="1600" b="1">
              <a:solidFill>
                <a:schemeClr val="lt1"/>
              </a:solidFill>
              <a:latin typeface="Open Sans"/>
              <a:ea typeface="Open Sans"/>
              <a:cs typeface="Open Sans"/>
              <a:sym typeface="Montserrat"/>
            </a:endParaRPr>
          </a:p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Montserrat"/>
              </a:rPr>
              <a:t>Ahmed</a:t>
            </a:r>
            <a:endParaRPr sz="1600" b="1">
              <a:solidFill>
                <a:schemeClr val="lt1"/>
              </a:solidFill>
              <a:latin typeface="Open Sans"/>
              <a:ea typeface="Open Sans"/>
              <a:cs typeface="Open Sans"/>
              <a:sym typeface="Montserrat"/>
            </a:endParaRPr>
          </a:p>
          <a:p>
            <a:pPr algn="ctr">
              <a:spcBef>
                <a:spcPts val="100"/>
              </a:spcBef>
            </a:pPr>
            <a:endParaRPr lang="en"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Research Support, Feature ideation, UX concept exploration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  <a:p>
            <a:pPr marL="0" lvl="0" indent="0" algn="ctr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"/>
              </a:spcBef>
              <a:spcAft>
                <a:spcPts val="100"/>
              </a:spcAft>
              <a:buNone/>
            </a:pPr>
            <a:endParaRPr sz="1200">
              <a:solidFill>
                <a:srgbClr val="7C8C9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3113</Words>
  <Application>Microsoft Office PowerPoint</Application>
  <PresentationFormat>On-screen Show (16:9)</PresentationFormat>
  <Paragraphs>262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Aptos Display</vt:lpstr>
      <vt:lpstr>Montserrat</vt:lpstr>
      <vt:lpstr>Open Sans</vt:lpstr>
      <vt:lpstr>Office Theme</vt:lpstr>
      <vt:lpstr>ClearStep </vt:lpstr>
      <vt:lpstr>PowerPoint Presentation</vt:lpstr>
      <vt:lpstr>THE PROBLEM </vt:lpstr>
      <vt:lpstr>PowerPoint Presentation</vt:lpstr>
      <vt:lpstr>3-LAYER AI PIPELINE</vt:lpstr>
      <vt:lpstr>POWERED BY AZURE AI &amp; CLOUD SERVICES </vt:lpstr>
      <vt:lpstr>ALL AI PRINCIPLES ARE INTEGRATED  </vt:lpstr>
      <vt:lpstr>ACCESSIBLE DESIGN IS THE PRODUCT </vt:lpstr>
      <vt:lpstr>PowerPoint Presentation</vt:lpstr>
      <vt:lpstr>OUR APPROACH TO THE PROBLEM </vt:lpstr>
      <vt:lpstr>KEY LEARNINGS </vt:lpstr>
      <vt:lpstr>ROADMAP</vt:lpstr>
      <vt:lpstr>ClearStep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Leia P</dc:creator>
  <cp:lastModifiedBy>Joanne Obodoagwu</cp:lastModifiedBy>
  <cp:revision>19</cp:revision>
  <dcterms:modified xsi:type="dcterms:W3CDTF">2026-03-27T10:42:44Z</dcterms:modified>
</cp:coreProperties>
</file>